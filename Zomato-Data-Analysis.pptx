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embeddedFontLst>
    <p:embeddedFont>
      <p:font typeface="DM Sans"/>
      <p:regular r:id="rId201314"/>
    </p:embeddedFont>
    <p:embeddedFont>
      <p:font typeface="DM Sans SemiBold"/>
      <p:regular r:id="rId201315"/>
    </p:embeddedFont>
    <p:embeddedFont>
      <p:font typeface="DM Sans Bold"/>
      <p:regular r:id="rId201316"/>
    </p:embeddedFont>
    <p:embeddedFont>
      <p:font typeface="DM Sans Black"/>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AF6F0"/>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image" Target="../media/image-4-2.png"/><Relationship Id="rId11" Type="http://schemas.openxmlformats.org/officeDocument/2006/relationships/image" Target="../media/image-4-3.svg"/><Relationship Id="rId12" Type="http://schemas.openxmlformats.org/officeDocument/2006/relationships/image" Target="../media/image-4-12.png"/><Relationship Id="rId13" Type="http://schemas.openxmlformats.org/officeDocument/2006/relationships/image" Target="../media/image-4-13.svg"/><Relationship Id="rId14" Type="http://schemas.openxmlformats.org/officeDocument/2006/relationships/slideLayout" Target="../slideLayouts/slideLayout2.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4.png"/><Relationship Id="rId6" Type="http://schemas.openxmlformats.org/officeDocument/2006/relationships/image" Target="../media/image-6-4.png"/><Relationship Id="rId7" Type="http://schemas.openxmlformats.org/officeDocument/2006/relationships/image" Target="../media/image-6-4.png"/><Relationship Id="rId8" Type="http://schemas.openxmlformats.org/officeDocument/2006/relationships/image" Target="../media/image-6-4.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370435"/>
            <a:ext cx="6296860" cy="1653977"/>
          </a:xfrm>
          <a:prstGeom prst="rect">
            <a:avLst/>
          </a:prstGeom>
          <a:noFill/>
          <a:ln/>
        </p:spPr>
        <p:txBody>
          <a:bodyPr wrap="square" lIns="0" tIns="0" rIns="0" bIns="0" rtlCol="0" anchor="t">
            <a:normAutofit/>
          </a:bodyPr>
          <a:lstStyle/>
          <a:p>
            <a:pPr algn="l" indent="0" marL="0">
              <a:lnSpc>
                <a:spcPct val="83000"/>
              </a:lnSpc>
              <a:buNone/>
            </a:pPr>
            <a:r>
              <a:rPr lang="en-US" sz="6500" spc="-195" kern="0" dirty="0">
                <a:solidFill>
                  <a:srgbClr val="000000"/>
                </a:solidFill>
                <a:latin typeface="DM Sans SemiBold" pitchFamily="34" charset="0"/>
                <a:ea typeface="DM Sans SemiBold" pitchFamily="34" charset="-122"/>
                <a:cs typeface="DM Sans SemiBold" pitchFamily="34" charset="-120"/>
              </a:rPr>
              <a:t>Zomato Data Analysis</a:t>
            </a:r>
            <a:endParaRPr lang="en-US" sz="6500" dirty="0"/>
          </a:p>
        </p:txBody>
      </p:sp>
      <p:sp>
        <p:nvSpPr>
          <p:cNvPr id="4" name="Text 1"/>
          <p:cNvSpPr/>
          <p:nvPr/>
        </p:nvSpPr>
        <p:spPr>
          <a:xfrm>
            <a:off x="5233360" y="4272459"/>
            <a:ext cx="6906444" cy="215007"/>
          </a:xfrm>
          <a:prstGeom prst="rect">
            <a:avLst/>
          </a:prstGeom>
          <a:noFill/>
          <a:ln/>
        </p:spPr>
        <p:txBody>
          <a:bodyPr wrap="none" lIns="0" tIns="0" rIns="0" bIns="0" rtlCol="0" anchor="t"/>
          <a:lstStyle/>
          <a:p>
            <a:pPr algn="l" indent="0" marL="0">
              <a:lnSpc>
                <a:spcPct val="108000"/>
              </a:lnSpc>
              <a:buNone/>
            </a:pPr>
            <a:r>
              <a:rPr lang="en-US" sz="1300" spc="-13" kern="0" dirty="0">
                <a:solidFill>
                  <a:srgbClr val="272525"/>
                </a:solidFill>
                <a:latin typeface="DM Sans" pitchFamily="34" charset="0"/>
                <a:ea typeface="DM Sans" pitchFamily="34" charset="-122"/>
                <a:cs typeface="DM Sans" pitchFamily="34" charset="-120"/>
              </a:rPr>
              <a:t>                                             </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612676"/>
            <a:ext cx="130172" cy="130175"/>
          </a:xfrm>
          <a:prstGeom prst="rect">
            <a:avLst/>
          </a:prstGeom>
        </p:spPr>
      </p:pic>
      <p:sp>
        <p:nvSpPr>
          <p:cNvPr id="3" name="Text 0"/>
          <p:cNvSpPr/>
          <p:nvPr/>
        </p:nvSpPr>
        <p:spPr>
          <a:xfrm>
            <a:off x="856732" y="602952"/>
            <a:ext cx="1521779" cy="149721"/>
          </a:xfrm>
          <a:prstGeom prst="rect">
            <a:avLst/>
          </a:prstGeom>
          <a:noFill/>
          <a:ln/>
        </p:spPr>
        <p:txBody>
          <a:bodyPr wrap="none" lIns="0" tIns="0" rIns="0" bIns="0" rtlCol="0" anchor="t"/>
          <a:lstStyle/>
          <a:p>
            <a:pPr algn="l" indent="0" marL="0">
              <a:lnSpc>
                <a:spcPct val="96000"/>
              </a:lnSpc>
              <a:buNone/>
            </a:pPr>
            <a:r>
              <a:rPr lang="en-US" sz="1000" spc="-13" kern="0" dirty="0">
                <a:solidFill>
                  <a:srgbClr val="911E1B"/>
                </a:solidFill>
                <a:latin typeface="DM Sans" pitchFamily="34" charset="0"/>
                <a:ea typeface="DM Sans" pitchFamily="34" charset="-122"/>
                <a:cs typeface="DM Sans" pitchFamily="34" charset="-120"/>
              </a:rPr>
              <a:t>INTRODUCTION</a:t>
            </a:r>
            <a:endParaRPr lang="en-US" sz="1000" dirty="0"/>
          </a:p>
        </p:txBody>
      </p:sp>
      <p:sp>
        <p:nvSpPr>
          <p:cNvPr id="4" name="Text 1"/>
          <p:cNvSpPr/>
          <p:nvPr/>
        </p:nvSpPr>
        <p:spPr>
          <a:xfrm>
            <a:off x="661475" y="865584"/>
            <a:ext cx="10868745" cy="406995"/>
          </a:xfrm>
          <a:prstGeom prst="rect">
            <a:avLst/>
          </a:prstGeom>
          <a:noFill/>
          <a:ln/>
        </p:spPr>
        <p:txBody>
          <a:bodyPr wrap="none" lIns="0" tIns="0" rIns="0" bIns="0" rtlCol="0" anchor="t"/>
          <a:lstStyle/>
          <a:p>
            <a:pPr algn="l" indent="0" marL="0">
              <a:lnSpc>
                <a:spcPct val="83000"/>
              </a:lnSpc>
              <a:buNone/>
            </a:pPr>
            <a:r>
              <a:rPr lang="en-US" sz="3200" spc="-96" kern="0" dirty="0">
                <a:solidFill>
                  <a:srgbClr val="000000"/>
                </a:solidFill>
                <a:latin typeface="DM Sans SemiBold" pitchFamily="34" charset="0"/>
                <a:ea typeface="DM Sans SemiBold" pitchFamily="34" charset="-122"/>
                <a:cs typeface="DM Sans SemiBold" pitchFamily="34" charset="-120"/>
              </a:rPr>
              <a:t>Project Overview</a:t>
            </a:r>
            <a:endParaRPr lang="en-US" sz="3200" dirty="0"/>
          </a:p>
        </p:txBody>
      </p:sp>
      <p:sp>
        <p:nvSpPr>
          <p:cNvPr id="5" name="Text 2"/>
          <p:cNvSpPr/>
          <p:nvPr/>
        </p:nvSpPr>
        <p:spPr>
          <a:xfrm>
            <a:off x="661475" y="1673126"/>
            <a:ext cx="6362342" cy="244177"/>
          </a:xfrm>
          <a:prstGeom prst="rect">
            <a:avLst/>
          </a:prstGeom>
          <a:noFill/>
          <a:ln/>
        </p:spPr>
        <p:txBody>
          <a:bodyPr wrap="none" lIns="0" tIns="0" rIns="0" bIns="0" rtlCol="0" anchor="t"/>
          <a:lstStyle/>
          <a:p>
            <a:pPr algn="l" indent="0" marL="0">
              <a:lnSpc>
                <a:spcPct val="83000"/>
              </a:lnSpc>
              <a:buNone/>
            </a:pPr>
            <a:r>
              <a:rPr lang="en-US" sz="1900" spc="-58" kern="0" dirty="0">
                <a:solidFill>
                  <a:srgbClr val="000000"/>
                </a:solidFill>
                <a:latin typeface="DM Sans SemiBold" pitchFamily="34" charset="0"/>
                <a:ea typeface="DM Sans SemiBold" pitchFamily="34" charset="-122"/>
                <a:cs typeface="DM Sans SemiBold" pitchFamily="34" charset="-120"/>
              </a:rPr>
              <a:t>Project Details</a:t>
            </a:r>
            <a:endParaRPr lang="en-US" sz="1900" dirty="0"/>
          </a:p>
        </p:txBody>
      </p:sp>
      <p:sp>
        <p:nvSpPr>
          <p:cNvPr id="6" name="Text 3"/>
          <p:cNvSpPr/>
          <p:nvPr/>
        </p:nvSpPr>
        <p:spPr>
          <a:xfrm>
            <a:off x="661475" y="2077541"/>
            <a:ext cx="6362342" cy="1272282"/>
          </a:xfrm>
          <a:prstGeom prst="rect">
            <a:avLst/>
          </a:prstGeom>
          <a:noFill/>
          <a:ln/>
        </p:spPr>
        <p:txBody>
          <a:bodyPr wrap="square" lIns="0" tIns="0" rIns="0" bIns="0" rtlCol="0" anchor="t"/>
          <a:lstStyle/>
          <a:p>
            <a:pPr algn="l" indent="0" marL="0">
              <a:lnSpc>
                <a:spcPct val="107000"/>
              </a:lnSpc>
              <a:spcAft>
                <a:spcPts val="1100"/>
              </a:spcAft>
              <a:buNone/>
            </a:pPr>
            <a:r>
              <a:rPr lang="en-US" sz="1250" b="1" spc="-13" kern="0" dirty="0">
                <a:solidFill>
                  <a:srgbClr val="272525"/>
                </a:solidFill>
                <a:latin typeface="DM Sans Bold" pitchFamily="34" charset="0"/>
                <a:ea typeface="DM Sans Bold" pitchFamily="34" charset="-122"/>
                <a:cs typeface="DM Sans Bold" pitchFamily="34" charset="-120"/>
              </a:rPr>
              <a:t>Project Title:</a:t>
            </a:r>
            <a:pPr algn="l" indent="0" marL="0">
              <a:lnSpc>
                <a:spcPct val="107000"/>
              </a:lnSpc>
              <a:spcAft>
                <a:spcPts val="1100"/>
              </a:spcAft>
              <a:buNone/>
            </a:pPr>
            <a:r>
              <a:rPr lang="en-US" sz="1250" spc="-13" kern="0" dirty="0">
                <a:solidFill>
                  <a:srgbClr val="272525"/>
                </a:solidFill>
                <a:latin typeface="DM Sans" pitchFamily="34" charset="0"/>
                <a:ea typeface="DM Sans" pitchFamily="34" charset="-122"/>
                <a:cs typeface="DM Sans" pitchFamily="34" charset="-120"/>
              </a:rPr>
              <a:t> Zomato Data Analysis</a:t>
            </a:r>
            <a:endParaRPr lang="en-US" sz="1250" dirty="0"/>
          </a:p>
          <a:p>
            <a:pPr algn="l" indent="0" marL="0">
              <a:lnSpc>
                <a:spcPct val="107000"/>
              </a:lnSpc>
              <a:spcAft>
                <a:spcPts val="1100"/>
              </a:spcAft>
              <a:buNone/>
            </a:pPr>
            <a:r>
              <a:rPr lang="en-US" sz="1250" b="1" spc="-13" kern="0" dirty="0">
                <a:solidFill>
                  <a:srgbClr val="272525"/>
                </a:solidFill>
                <a:latin typeface="DM Sans Bold" pitchFamily="34" charset="0"/>
                <a:ea typeface="DM Sans Bold" pitchFamily="34" charset="-122"/>
                <a:cs typeface="DM Sans Bold" pitchFamily="34" charset="-120"/>
              </a:rPr>
              <a:t>Analysis Period:</a:t>
            </a:r>
            <a:pPr algn="l" indent="0" marL="0">
              <a:lnSpc>
                <a:spcPct val="107000"/>
              </a:lnSpc>
              <a:spcAft>
                <a:spcPts val="1100"/>
              </a:spcAft>
              <a:buNone/>
            </a:pPr>
            <a:r>
              <a:rPr lang="en-US" sz="1250" spc="-13" kern="0" dirty="0">
                <a:solidFill>
                  <a:srgbClr val="272525"/>
                </a:solidFill>
                <a:latin typeface="DM Sans" pitchFamily="34" charset="0"/>
                <a:ea typeface="DM Sans" pitchFamily="34" charset="-122"/>
                <a:cs typeface="DM Sans" pitchFamily="34" charset="-120"/>
              </a:rPr>
              <a:t> January 2024 – April 2026</a:t>
            </a:r>
            <a:endParaRPr lang="en-US" sz="1250" dirty="0"/>
          </a:p>
          <a:p>
            <a:pPr algn="l" indent="0" marL="0">
              <a:lnSpc>
                <a:spcPct val="107000"/>
              </a:lnSpc>
              <a:spcAft>
                <a:spcPts val="1100"/>
              </a:spcAft>
              <a:buNone/>
            </a:pPr>
            <a:r>
              <a:rPr lang="en-US" sz="1250" b="1" spc="-13" kern="0" dirty="0">
                <a:solidFill>
                  <a:srgbClr val="272525"/>
                </a:solidFill>
                <a:latin typeface="DM Sans Bold" pitchFamily="34" charset="0"/>
                <a:ea typeface="DM Sans Bold" pitchFamily="34" charset="-122"/>
                <a:cs typeface="DM Sans Bold" pitchFamily="34" charset="-120"/>
              </a:rPr>
              <a:t>Scope:</a:t>
            </a:r>
            <a:pPr algn="l" indent="0" marL="0">
              <a:lnSpc>
                <a:spcPct val="107000"/>
              </a:lnSpc>
              <a:spcAft>
                <a:spcPts val="1100"/>
              </a:spcAft>
              <a:buNone/>
            </a:pPr>
            <a:r>
              <a:rPr lang="en-US" sz="1250" spc="-13" kern="0" dirty="0">
                <a:solidFill>
                  <a:srgbClr val="272525"/>
                </a:solidFill>
                <a:latin typeface="DM Sans" pitchFamily="34" charset="0"/>
                <a:ea typeface="DM Sans" pitchFamily="34" charset="-122"/>
                <a:cs typeface="DM Sans" pitchFamily="34" charset="-120"/>
              </a:rPr>
              <a:t> Multi-city delivered order performance</a:t>
            </a:r>
            <a:endParaRPr lang="en-US" sz="1250" dirty="0"/>
          </a:p>
          <a:p>
            <a:pPr algn="l" indent="0" marL="0">
              <a:lnSpc>
                <a:spcPct val="107000"/>
              </a:lnSpc>
              <a:buNone/>
            </a:pPr>
            <a:r>
              <a:rPr lang="en-US" sz="1250" b="1" spc="-13" kern="0" dirty="0">
                <a:solidFill>
                  <a:srgbClr val="272525"/>
                </a:solidFill>
                <a:latin typeface="DM Sans Bold" pitchFamily="34" charset="0"/>
                <a:ea typeface="DM Sans Bold" pitchFamily="34" charset="-122"/>
                <a:cs typeface="DM Sans Bold" pitchFamily="34" charset="-120"/>
              </a:rPr>
              <a:t>Focus Cities:</a:t>
            </a:r>
            <a:pPr algn="l" indent="0" marL="0">
              <a:lnSpc>
                <a:spcPct val="107000"/>
              </a:lnSpc>
              <a:buNone/>
            </a:pPr>
            <a:r>
              <a:rPr lang="en-US" sz="1250" spc="-13" kern="0" dirty="0">
                <a:solidFill>
                  <a:srgbClr val="272525"/>
                </a:solidFill>
                <a:latin typeface="DM Sans" pitchFamily="34" charset="0"/>
                <a:ea typeface="DM Sans" pitchFamily="34" charset="-122"/>
                <a:cs typeface="DM Sans" pitchFamily="34" charset="-120"/>
              </a:rPr>
              <a:t> Pune, Mumbai, Delhi, Gurugram</a:t>
            </a:r>
            <a:endParaRPr lang="en-US" sz="1250" dirty="0"/>
          </a:p>
        </p:txBody>
      </p:sp>
      <p:sp>
        <p:nvSpPr>
          <p:cNvPr id="7" name="Shape 4"/>
          <p:cNvSpPr/>
          <p:nvPr/>
        </p:nvSpPr>
        <p:spPr>
          <a:xfrm>
            <a:off x="661475" y="3570784"/>
            <a:ext cx="6362342" cy="19050"/>
          </a:xfrm>
          <a:prstGeom prst="roundRect">
            <a:avLst>
              <a:gd name="adj" fmla="val 49999"/>
            </a:avLst>
          </a:prstGeom>
          <a:solidFill>
            <a:srgbClr val="272525">
              <a:alpha val="50000"/>
            </a:srgbClr>
          </a:solidFill>
          <a:ln/>
        </p:spPr>
      </p:sp>
      <p:sp>
        <p:nvSpPr>
          <p:cNvPr id="8" name="Text 5"/>
          <p:cNvSpPr/>
          <p:nvPr/>
        </p:nvSpPr>
        <p:spPr>
          <a:xfrm>
            <a:off x="661475" y="3810794"/>
            <a:ext cx="6362342" cy="244177"/>
          </a:xfrm>
          <a:prstGeom prst="rect">
            <a:avLst/>
          </a:prstGeom>
          <a:noFill/>
          <a:ln/>
        </p:spPr>
        <p:txBody>
          <a:bodyPr wrap="none" lIns="0" tIns="0" rIns="0" bIns="0" rtlCol="0" anchor="t"/>
          <a:lstStyle/>
          <a:p>
            <a:pPr algn="l" indent="0" marL="0">
              <a:lnSpc>
                <a:spcPct val="83000"/>
              </a:lnSpc>
              <a:buNone/>
            </a:pPr>
            <a:r>
              <a:rPr lang="en-US" sz="1900" spc="-58" kern="0" dirty="0">
                <a:solidFill>
                  <a:srgbClr val="000000"/>
                </a:solidFill>
                <a:latin typeface="DM Sans SemiBold" pitchFamily="34" charset="0"/>
                <a:ea typeface="DM Sans SemiBold" pitchFamily="34" charset="-122"/>
                <a:cs typeface="DM Sans SemiBold" pitchFamily="34" charset="-120"/>
              </a:rPr>
              <a:t>Problem Statements</a:t>
            </a:r>
            <a:endParaRPr lang="en-US" sz="1900" dirty="0"/>
          </a:p>
        </p:txBody>
      </p:sp>
      <p:sp>
        <p:nvSpPr>
          <p:cNvPr id="9" name="Text 6"/>
          <p:cNvSpPr/>
          <p:nvPr/>
        </p:nvSpPr>
        <p:spPr>
          <a:xfrm>
            <a:off x="661475" y="4215209"/>
            <a:ext cx="6362342" cy="839788"/>
          </a:xfrm>
          <a:prstGeom prst="rect">
            <a:avLst/>
          </a:prstGeom>
          <a:noFill/>
          <a:ln/>
        </p:spPr>
        <p:txBody>
          <a:bodyPr wrap="square" lIns="0" tIns="0" rIns="0" bIns="0" rtlCol="0" anchor="t">
            <a:normAutofit/>
          </a:bodyPr>
          <a:lstStyle/>
          <a:p>
            <a:pPr algn="l" indent="0" marL="0">
              <a:lnSpc>
                <a:spcPct val="107000"/>
              </a:lnSpc>
              <a:buNone/>
            </a:pPr>
            <a:r>
              <a:rPr lang="en-US" sz="1250" spc="-13" kern="0" dirty="0">
                <a:solidFill>
                  <a:srgbClr val="272525"/>
                </a:solidFill>
                <a:latin typeface="DM Sans" pitchFamily="34" charset="0"/>
                <a:ea typeface="DM Sans" pitchFamily="34" charset="-122"/>
                <a:cs typeface="DM Sans" pitchFamily="34" charset="-120"/>
              </a:rPr>
              <a:t>This analysis was conducted to solve two critical business problems identified within the Zomato platform. Each problem was investigated through multiple hypotheses, tested against real order and revenue data, and evaluated for statistical significance across a three-year window.</a:t>
            </a:r>
            <a:endParaRPr lang="en-US" sz="1250" dirty="0"/>
          </a:p>
        </p:txBody>
      </p:sp>
      <p:sp>
        <p:nvSpPr>
          <p:cNvPr id="10" name="Shape 7"/>
          <p:cNvSpPr/>
          <p:nvPr/>
        </p:nvSpPr>
        <p:spPr>
          <a:xfrm>
            <a:off x="7310056" y="1512888"/>
            <a:ext cx="4343589" cy="4790976"/>
          </a:xfrm>
          <a:prstGeom prst="roundRect">
            <a:avLst>
              <a:gd name="adj" fmla="val 2699"/>
            </a:avLst>
          </a:prstGeom>
          <a:solidFill>
            <a:srgbClr val="E07A5F"/>
          </a:solidFill>
          <a:ln/>
        </p:spPr>
      </p:sp>
      <p:sp>
        <p:nvSpPr>
          <p:cNvPr id="11" name="Text 8"/>
          <p:cNvSpPr/>
          <p:nvPr/>
        </p:nvSpPr>
        <p:spPr>
          <a:xfrm>
            <a:off x="7472771" y="1673126"/>
            <a:ext cx="4018160" cy="244177"/>
          </a:xfrm>
          <a:prstGeom prst="rect">
            <a:avLst/>
          </a:prstGeom>
          <a:noFill/>
          <a:ln/>
        </p:spPr>
        <p:txBody>
          <a:bodyPr wrap="none" lIns="0" tIns="0" rIns="0" bIns="0" rtlCol="0" anchor="t"/>
          <a:lstStyle/>
          <a:p>
            <a:pPr algn="l" indent="0" marL="0">
              <a:lnSpc>
                <a:spcPct val="83000"/>
              </a:lnSpc>
              <a:buNone/>
            </a:pPr>
            <a:r>
              <a:rPr lang="en-US" sz="1900" spc="-58" kern="0" dirty="0">
                <a:solidFill>
                  <a:srgbClr val="FAF6F0"/>
                </a:solidFill>
                <a:latin typeface="DM Sans SemiBold" pitchFamily="34" charset="0"/>
                <a:ea typeface="DM Sans SemiBold" pitchFamily="34" charset="-122"/>
                <a:cs typeface="DM Sans SemiBold" pitchFamily="34" charset="-120"/>
              </a:rPr>
              <a:t>Two Core Problems</a:t>
            </a:r>
            <a:endParaRPr lang="en-US" sz="1900" dirty="0"/>
          </a:p>
        </p:txBody>
      </p:sp>
      <p:sp>
        <p:nvSpPr>
          <p:cNvPr id="12" name="Text 9"/>
          <p:cNvSpPr/>
          <p:nvPr/>
        </p:nvSpPr>
        <p:spPr>
          <a:xfrm>
            <a:off x="7472771" y="2077541"/>
            <a:ext cx="4018160" cy="1613793"/>
          </a:xfrm>
          <a:prstGeom prst="rect">
            <a:avLst/>
          </a:prstGeom>
          <a:noFill/>
          <a:ln/>
        </p:spPr>
        <p:txBody>
          <a:bodyPr wrap="square" lIns="0" tIns="0" rIns="0" bIns="0" rtlCol="0" anchor="t">
            <a:normAutofit/>
          </a:bodyPr>
          <a:lstStyle/>
          <a:p>
            <a:pPr algn="l" indent="0" marL="0">
              <a:lnSpc>
                <a:spcPct val="107000"/>
              </a:lnSpc>
              <a:spcAft>
                <a:spcPts val="1100"/>
              </a:spcAft>
              <a:buNone/>
            </a:pPr>
            <a:r>
              <a:rPr lang="en-US" sz="1250" b="1" spc="-13" kern="0" dirty="0">
                <a:solidFill>
                  <a:srgbClr val="FAF6F0"/>
                </a:solidFill>
                <a:latin typeface="DM Sans Bold" pitchFamily="34" charset="0"/>
                <a:ea typeface="DM Sans Bold" pitchFamily="34" charset="-122"/>
                <a:cs typeface="DM Sans Bold" pitchFamily="34" charset="-120"/>
              </a:rPr>
              <a:t>Problem 1:</a:t>
            </a:r>
            <a:pPr algn="l" indent="0" marL="0">
              <a:lnSpc>
                <a:spcPct val="107000"/>
              </a:lnSpc>
              <a:spcAft>
                <a:spcPts val="1100"/>
              </a:spcAft>
              <a:buNone/>
            </a:pPr>
            <a:r>
              <a:rPr lang="en-US" sz="1250" spc="-13" kern="0" dirty="0">
                <a:solidFill>
                  <a:srgbClr val="FAF6F0"/>
                </a:solidFill>
                <a:latin typeface="DM Sans" pitchFamily="34" charset="0"/>
                <a:ea typeface="DM Sans" pitchFamily="34" charset="-122"/>
                <a:cs typeface="DM Sans" pitchFamily="34" charset="-120"/>
              </a:rPr>
              <a:t> Revenue is inconsistent — delivered order volumes declined by 2.52% between Jan–Apr 2024 and Jan–Apr 2026, directly impacting revenue stability.</a:t>
            </a:r>
            <a:endParaRPr lang="en-US" sz="1250" dirty="0"/>
          </a:p>
          <a:p>
            <a:pPr algn="l" indent="0" marL="0">
              <a:lnSpc>
                <a:spcPct val="107000"/>
              </a:lnSpc>
              <a:buNone/>
            </a:pPr>
            <a:r>
              <a:rPr lang="en-US" sz="1250" b="1" spc="-13" kern="0" dirty="0">
                <a:solidFill>
                  <a:srgbClr val="FAF6F0"/>
                </a:solidFill>
                <a:latin typeface="DM Sans Bold" pitchFamily="34" charset="0"/>
                <a:ea typeface="DM Sans Bold" pitchFamily="34" charset="-122"/>
                <a:cs typeface="DM Sans Bold" pitchFamily="34" charset="-120"/>
              </a:rPr>
              <a:t>Problem 2:</a:t>
            </a:r>
            <a:pPr algn="l" indent="0" marL="0">
              <a:lnSpc>
                <a:spcPct val="107000"/>
              </a:lnSpc>
              <a:buNone/>
            </a:pPr>
            <a:r>
              <a:rPr lang="en-US" sz="1250" spc="-13" kern="0" dirty="0">
                <a:solidFill>
                  <a:srgbClr val="FAF6F0"/>
                </a:solidFill>
                <a:latin typeface="DM Sans" pitchFamily="34" charset="0"/>
                <a:ea typeface="DM Sans" pitchFamily="34" charset="-122"/>
                <a:cs typeface="DM Sans" pitchFamily="34" charset="-120"/>
              </a:rPr>
              <a:t> Restaurants are underperforming — driven by a combination of operational inefficiencies and declining customer demand rather than ratings alone.</a:t>
            </a:r>
            <a:endParaRPr lang="en-US" sz="1250" dirty="0"/>
          </a:p>
        </p:txBody>
      </p:sp>
      <p:pic>
        <p:nvPicPr>
          <p:cNvPr id="13" name="Image 1" descr="preencoded.png">    </p:cNvPr>
          <p:cNvPicPr>
            <a:picLocks noChangeAspect="1"/>
          </p:cNvPicPr>
          <p:nvPr/>
        </p:nvPicPr>
        <p:blipFill>
          <a:blip r:embed="rId2"/>
          <a:stretch>
            <a:fillRect/>
          </a:stretch>
        </p:blipFill>
        <p:spPr>
          <a:xfrm>
            <a:off x="7472771" y="3871615"/>
            <a:ext cx="4018160" cy="22519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1964035"/>
          </a:xfrm>
          <a:prstGeom prst="rect">
            <a:avLst/>
          </a:prstGeom>
        </p:spPr>
      </p:pic>
      <p:sp>
        <p:nvSpPr>
          <p:cNvPr id="3" name="Text 0"/>
          <p:cNvSpPr/>
          <p:nvPr/>
        </p:nvSpPr>
        <p:spPr>
          <a:xfrm>
            <a:off x="661475" y="2585938"/>
            <a:ext cx="10868745" cy="392807"/>
          </a:xfrm>
          <a:prstGeom prst="rect">
            <a:avLst/>
          </a:prstGeom>
          <a:noFill/>
          <a:ln/>
        </p:spPr>
        <p:txBody>
          <a:bodyPr wrap="none" lIns="0" tIns="0" rIns="0" bIns="0" rtlCol="0" anchor="t"/>
          <a:lstStyle/>
          <a:p>
            <a:pPr algn="l" indent="0" marL="0">
              <a:lnSpc>
                <a:spcPct val="83000"/>
              </a:lnSpc>
              <a:buNone/>
            </a:pPr>
            <a:r>
              <a:rPr lang="en-US" sz="3050" spc="-93" kern="0" dirty="0">
                <a:solidFill>
                  <a:srgbClr val="000000"/>
                </a:solidFill>
                <a:latin typeface="DM Sans SemiBold" pitchFamily="34" charset="0"/>
                <a:ea typeface="DM Sans SemiBold" pitchFamily="34" charset="-122"/>
                <a:cs typeface="DM Sans SemiBold" pitchFamily="34" charset="-120"/>
              </a:rPr>
              <a:t>Problem 1: Revenue Inconsistency — Key Findings</a:t>
            </a:r>
            <a:endParaRPr lang="en-US" sz="3050" dirty="0"/>
          </a:p>
        </p:txBody>
      </p:sp>
      <p:sp>
        <p:nvSpPr>
          <p:cNvPr id="4" name="Shape 1"/>
          <p:cNvSpPr/>
          <p:nvPr/>
        </p:nvSpPr>
        <p:spPr>
          <a:xfrm>
            <a:off x="661475" y="3202583"/>
            <a:ext cx="5359762" cy="2268141"/>
          </a:xfrm>
          <a:prstGeom prst="roundRect">
            <a:avLst>
              <a:gd name="adj" fmla="val 2909"/>
            </a:avLst>
          </a:prstGeom>
          <a:solidFill>
            <a:srgbClr val="EFE8DD"/>
          </a:solidFill>
          <a:ln w="6350">
            <a:solidFill>
              <a:srgbClr val="D5CEC3"/>
            </a:solidFill>
            <a:prstDash val="solid"/>
          </a:ln>
        </p:spPr>
      </p:sp>
      <p:sp>
        <p:nvSpPr>
          <p:cNvPr id="5" name="Shape 2"/>
          <p:cNvSpPr/>
          <p:nvPr/>
        </p:nvSpPr>
        <p:spPr>
          <a:xfrm>
            <a:off x="824884" y="3365996"/>
            <a:ext cx="471277" cy="471289"/>
          </a:xfrm>
          <a:prstGeom prst="ellipse">
            <a:avLst/>
          </a:prstGeom>
          <a:solidFill>
            <a:srgbClr val="E07A5F"/>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4460" y="3495576"/>
            <a:ext cx="212025" cy="212030"/>
          </a:xfrm>
          <a:prstGeom prst="rect">
            <a:avLst/>
          </a:prstGeom>
        </p:spPr>
      </p:pic>
      <p:sp>
        <p:nvSpPr>
          <p:cNvPr id="7" name="Text 3"/>
          <p:cNvSpPr/>
          <p:nvPr/>
        </p:nvSpPr>
        <p:spPr>
          <a:xfrm>
            <a:off x="824884" y="3986510"/>
            <a:ext cx="5032944" cy="235645"/>
          </a:xfrm>
          <a:prstGeom prst="rect">
            <a:avLst/>
          </a:prstGeom>
          <a:noFill/>
          <a:ln/>
        </p:spPr>
        <p:txBody>
          <a:bodyPr wrap="none" lIns="0" tIns="0" rIns="0" bIns="0" rtlCol="0" anchor="t"/>
          <a:lstStyle/>
          <a:p>
            <a:pPr algn="l" indent="0" marL="0">
              <a:lnSpc>
                <a:spcPct val="83000"/>
              </a:lnSpc>
              <a:buNone/>
            </a:pPr>
            <a:r>
              <a:rPr lang="en-US" sz="1850" spc="-56" kern="0" dirty="0">
                <a:solidFill>
                  <a:srgbClr val="272525"/>
                </a:solidFill>
                <a:latin typeface="DM Sans SemiBold" pitchFamily="34" charset="0"/>
                <a:ea typeface="DM Sans SemiBold" pitchFamily="34" charset="-122"/>
                <a:cs typeface="DM Sans SemiBold" pitchFamily="34" charset="-120"/>
              </a:rPr>
              <a:t>Primary Driver</a:t>
            </a:r>
            <a:endParaRPr lang="en-US" sz="1850" dirty="0"/>
          </a:p>
        </p:txBody>
      </p:sp>
      <p:sp>
        <p:nvSpPr>
          <p:cNvPr id="8" name="Text 4"/>
          <p:cNvSpPr/>
          <p:nvPr/>
        </p:nvSpPr>
        <p:spPr>
          <a:xfrm>
            <a:off x="824884" y="4311650"/>
            <a:ext cx="5032944" cy="796528"/>
          </a:xfrm>
          <a:prstGeom prst="rect">
            <a:avLst/>
          </a:prstGeom>
          <a:noFill/>
          <a:ln/>
        </p:spPr>
        <p:txBody>
          <a:bodyPr wrap="square" lIns="0" tIns="0" rIns="0" bIns="0" rtlCol="0" anchor="t">
            <a:normAutofit/>
          </a:bodyPr>
          <a:lstStyle/>
          <a:p>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Declining </a:t>
            </a:r>
            <a:pPr algn="l" indent="0" marL="0">
              <a:lnSpc>
                <a:spcPct val="106000"/>
              </a:lnSpc>
              <a:buNone/>
            </a:pPr>
            <a:r>
              <a:rPr lang="en-US" sz="1200" b="1" spc="-12" kern="0" dirty="0">
                <a:solidFill>
                  <a:srgbClr val="272525"/>
                </a:solidFill>
                <a:latin typeface="DM Sans Bold" pitchFamily="34" charset="0"/>
                <a:ea typeface="DM Sans Bold" pitchFamily="34" charset="-122"/>
                <a:cs typeface="DM Sans Bold" pitchFamily="34" charset="-120"/>
              </a:rPr>
              <a:t>delivered order volume</a:t>
            </a:r>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 is confirmed as the primary driver of revenue inconsistency. Revenue moved consistently in line with delivered orders across all three years, with a </a:t>
            </a:r>
            <a:pPr algn="l" indent="0" marL="0">
              <a:lnSpc>
                <a:spcPct val="106000"/>
              </a:lnSpc>
              <a:buNone/>
            </a:pPr>
            <a:r>
              <a:rPr lang="en-US" sz="1200" b="1" spc="-12" kern="0" dirty="0">
                <a:solidFill>
                  <a:srgbClr val="272525"/>
                </a:solidFill>
                <a:latin typeface="DM Sans Bold" pitchFamily="34" charset="0"/>
                <a:ea typeface="DM Sans Bold" pitchFamily="34" charset="-122"/>
                <a:cs typeface="DM Sans Bold" pitchFamily="34" charset="-120"/>
              </a:rPr>
              <a:t>2.52% decline</a:t>
            </a:r>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 between Jan–Apr 2024 and Jan–Apr 2026.</a:t>
            </a:r>
            <a:endParaRPr lang="en-US" sz="1200" dirty="0"/>
          </a:p>
        </p:txBody>
      </p:sp>
      <p:sp>
        <p:nvSpPr>
          <p:cNvPr id="9" name="Shape 5"/>
          <p:cNvSpPr/>
          <p:nvPr/>
        </p:nvSpPr>
        <p:spPr>
          <a:xfrm>
            <a:off x="6170458" y="3202583"/>
            <a:ext cx="5359762" cy="2268141"/>
          </a:xfrm>
          <a:prstGeom prst="roundRect">
            <a:avLst>
              <a:gd name="adj" fmla="val 2909"/>
            </a:avLst>
          </a:prstGeom>
          <a:solidFill>
            <a:srgbClr val="EFE8DD"/>
          </a:solidFill>
          <a:ln w="6350">
            <a:solidFill>
              <a:srgbClr val="D5CEC3"/>
            </a:solidFill>
            <a:prstDash val="solid"/>
          </a:ln>
        </p:spPr>
      </p:sp>
      <p:sp>
        <p:nvSpPr>
          <p:cNvPr id="10" name="Shape 6"/>
          <p:cNvSpPr/>
          <p:nvPr/>
        </p:nvSpPr>
        <p:spPr>
          <a:xfrm>
            <a:off x="6333867" y="3365996"/>
            <a:ext cx="471277" cy="471289"/>
          </a:xfrm>
          <a:prstGeom prst="ellipse">
            <a:avLst/>
          </a:prstGeom>
          <a:solidFill>
            <a:srgbClr val="E07A5F"/>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63444" y="3495576"/>
            <a:ext cx="212025" cy="212030"/>
          </a:xfrm>
          <a:prstGeom prst="rect">
            <a:avLst/>
          </a:prstGeom>
        </p:spPr>
      </p:pic>
      <p:sp>
        <p:nvSpPr>
          <p:cNvPr id="12" name="Text 7"/>
          <p:cNvSpPr/>
          <p:nvPr/>
        </p:nvSpPr>
        <p:spPr>
          <a:xfrm>
            <a:off x="6333867" y="3986510"/>
            <a:ext cx="5032944" cy="235645"/>
          </a:xfrm>
          <a:prstGeom prst="rect">
            <a:avLst/>
          </a:prstGeom>
          <a:noFill/>
          <a:ln/>
        </p:spPr>
        <p:txBody>
          <a:bodyPr wrap="none" lIns="0" tIns="0" rIns="0" bIns="0" rtlCol="0" anchor="t"/>
          <a:lstStyle/>
          <a:p>
            <a:pPr algn="l" indent="0" marL="0">
              <a:lnSpc>
                <a:spcPct val="83000"/>
              </a:lnSpc>
              <a:buNone/>
            </a:pPr>
            <a:r>
              <a:rPr lang="en-US" sz="1850" spc="-56" kern="0" dirty="0">
                <a:solidFill>
                  <a:srgbClr val="272525"/>
                </a:solidFill>
                <a:latin typeface="DM Sans SemiBold" pitchFamily="34" charset="0"/>
                <a:ea typeface="DM Sans SemiBold" pitchFamily="34" charset="-122"/>
                <a:cs typeface="DM Sans SemiBold" pitchFamily="34" charset="-120"/>
              </a:rPr>
              <a:t>Key Cities Affected</a:t>
            </a:r>
            <a:endParaRPr lang="en-US" sz="1850" dirty="0"/>
          </a:p>
        </p:txBody>
      </p:sp>
      <p:sp>
        <p:nvSpPr>
          <p:cNvPr id="13" name="Text 8"/>
          <p:cNvSpPr/>
          <p:nvPr/>
        </p:nvSpPr>
        <p:spPr>
          <a:xfrm>
            <a:off x="6333867" y="4311650"/>
            <a:ext cx="5032944" cy="995660"/>
          </a:xfrm>
          <a:prstGeom prst="rect">
            <a:avLst/>
          </a:prstGeom>
          <a:noFill/>
          <a:ln/>
        </p:spPr>
        <p:txBody>
          <a:bodyPr wrap="square" lIns="0" tIns="0" rIns="0" bIns="0" rtlCol="0" anchor="t">
            <a:normAutofit/>
          </a:bodyPr>
          <a:lstStyle/>
          <a:p>
            <a:pPr algn="l" indent="0" marL="0">
              <a:lnSpc>
                <a:spcPct val="106000"/>
              </a:lnSpc>
              <a:buNone/>
            </a:pPr>
            <a:r>
              <a:rPr lang="en-US" sz="1200" b="1" spc="-12" kern="0" dirty="0">
                <a:solidFill>
                  <a:srgbClr val="272525"/>
                </a:solidFill>
                <a:latin typeface="DM Sans Bold" pitchFamily="34" charset="0"/>
                <a:ea typeface="DM Sans Bold" pitchFamily="34" charset="-122"/>
                <a:cs typeface="DM Sans Bold" pitchFamily="34" charset="-120"/>
              </a:rPr>
              <a:t>Pune, Mumbai, Delhi, and Gurugram</a:t>
            </a:r>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 were the major contributors to the decline. Restaurants such as McDonald's, Subway, Pizza Hut, Starbucks, Domino's Pizza, Burger King, KFC, and Biryani By Kilo were identified as significant contributors to reduced delivered orders and revenue in these cities.</a:t>
            </a:r>
            <a:endParaRPr lang="en-US" sz="1200" dirty="0"/>
          </a:p>
        </p:txBody>
      </p:sp>
      <p:sp>
        <p:nvSpPr>
          <p:cNvPr id="14" name="Text 9"/>
          <p:cNvSpPr/>
          <p:nvPr/>
        </p:nvSpPr>
        <p:spPr>
          <a:xfrm>
            <a:off x="661475" y="5638602"/>
            <a:ext cx="10868745" cy="597396"/>
          </a:xfrm>
          <a:prstGeom prst="rect">
            <a:avLst/>
          </a:prstGeom>
          <a:noFill/>
          <a:ln/>
        </p:spPr>
        <p:txBody>
          <a:bodyPr wrap="square" lIns="0" tIns="0" rIns="0" bIns="0" rtlCol="0" anchor="t">
            <a:normAutofit/>
          </a:bodyPr>
          <a:lstStyle/>
          <a:p>
            <a:pPr algn="l" indent="0" marL="0">
              <a:lnSpc>
                <a:spcPct val="106000"/>
              </a:lnSpc>
              <a:buNone/>
            </a:pPr>
            <a:r>
              <a:rPr lang="en-US" sz="1200" b="1" spc="-12" kern="0" dirty="0">
                <a:solidFill>
                  <a:srgbClr val="272525"/>
                </a:solidFill>
                <a:latin typeface="DM Sans Bold" pitchFamily="34" charset="0"/>
                <a:ea typeface="DM Sans Bold" pitchFamily="34" charset="-122"/>
                <a:cs typeface="DM Sans Bold" pitchFamily="34" charset="-120"/>
              </a:rPr>
              <a:t>The remaining hypotheses were rejected or only partially supported</a:t>
            </a:r>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 — Average Order Value remained stable (rejected), overall cancellation rates were largely unchanged (rejected), and higher discounts generally coincided with higher revenue (rejected). Refunds negatively affected some individual restaurants but were insufficient to explain the overall revenue decline.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782737"/>
            <a:ext cx="132255" cy="132259"/>
          </a:xfrm>
          <a:prstGeom prst="rect">
            <a:avLst/>
          </a:prstGeom>
        </p:spPr>
      </p:pic>
      <p:sp>
        <p:nvSpPr>
          <p:cNvPr id="3" name="Text 0"/>
          <p:cNvSpPr/>
          <p:nvPr/>
        </p:nvSpPr>
        <p:spPr>
          <a:xfrm>
            <a:off x="859808" y="772815"/>
            <a:ext cx="1401331" cy="152202"/>
          </a:xfrm>
          <a:prstGeom prst="rect">
            <a:avLst/>
          </a:prstGeom>
          <a:noFill/>
          <a:ln/>
        </p:spPr>
        <p:txBody>
          <a:bodyPr wrap="none" lIns="0" tIns="0" rIns="0" bIns="0" rtlCol="0" anchor="t"/>
          <a:lstStyle/>
          <a:p>
            <a:pPr algn="l" indent="0" marL="0">
              <a:lnSpc>
                <a:spcPct val="96000"/>
              </a:lnSpc>
              <a:buNone/>
            </a:pPr>
            <a:r>
              <a:rPr lang="en-US" sz="1000" spc="-13" kern="0" dirty="0">
                <a:solidFill>
                  <a:srgbClr val="911E1B"/>
                </a:solidFill>
                <a:latin typeface="DM Sans" pitchFamily="34" charset="0"/>
                <a:ea typeface="DM Sans" pitchFamily="34" charset="-122"/>
                <a:cs typeface="DM Sans" pitchFamily="34" charset="-120"/>
              </a:rPr>
              <a:t>HYPOTHESES</a:t>
            </a:r>
            <a:endParaRPr lang="en-US" sz="1000" dirty="0"/>
          </a:p>
        </p:txBody>
      </p:sp>
      <p:sp>
        <p:nvSpPr>
          <p:cNvPr id="4" name="Text 1"/>
          <p:cNvSpPr/>
          <p:nvPr/>
        </p:nvSpPr>
        <p:spPr>
          <a:xfrm>
            <a:off x="661475" y="1040705"/>
            <a:ext cx="10868745" cy="413445"/>
          </a:xfrm>
          <a:prstGeom prst="rect">
            <a:avLst/>
          </a:prstGeom>
          <a:noFill/>
          <a:ln/>
        </p:spPr>
        <p:txBody>
          <a:bodyPr wrap="none" lIns="0" tIns="0" rIns="0" bIns="0" rtlCol="0" anchor="t"/>
          <a:lstStyle/>
          <a:p>
            <a:pPr algn="l" indent="0" marL="0">
              <a:lnSpc>
                <a:spcPct val="83000"/>
              </a:lnSpc>
              <a:buNone/>
            </a:pPr>
            <a:r>
              <a:rPr lang="en-US" sz="3250" spc="-98" kern="0" dirty="0">
                <a:solidFill>
                  <a:srgbClr val="000000"/>
                </a:solidFill>
                <a:latin typeface="DM Sans SemiBold" pitchFamily="34" charset="0"/>
                <a:ea typeface="DM Sans SemiBold" pitchFamily="34" charset="-122"/>
                <a:cs typeface="DM Sans SemiBold" pitchFamily="34" charset="-120"/>
              </a:rPr>
              <a:t>Hypotheses Evaluation — Problem 1</a:t>
            </a:r>
            <a:endParaRPr lang="en-US" sz="325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702197"/>
            <a:ext cx="10868745" cy="1367334"/>
          </a:xfrm>
          <a:prstGeom prst="rect">
            <a:avLst/>
          </a:prstGeom>
        </p:spPr>
      </p:pic>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4017" y="2261791"/>
            <a:ext cx="248041" cy="248047"/>
          </a:xfrm>
          <a:prstGeom prst="rect">
            <a:avLst/>
          </a:prstGeom>
        </p:spPr>
      </p:pic>
      <p:sp>
        <p:nvSpPr>
          <p:cNvPr id="7" name="Text 2"/>
          <p:cNvSpPr/>
          <p:nvPr/>
        </p:nvSpPr>
        <p:spPr>
          <a:xfrm>
            <a:off x="1507294" y="1886545"/>
            <a:ext cx="9838583" cy="254397"/>
          </a:xfrm>
          <a:prstGeom prst="rect">
            <a:avLst/>
          </a:prstGeom>
          <a:noFill/>
          <a:ln/>
        </p:spPr>
        <p:txBody>
          <a:bodyPr wrap="none" lIns="0" tIns="0" rIns="0" bIns="0" rtlCol="0" anchor="t"/>
          <a:lstStyle/>
          <a:p>
            <a:pPr algn="l" indent="0" marL="0">
              <a:lnSpc>
                <a:spcPct val="83000"/>
              </a:lnSpc>
              <a:buNone/>
            </a:pPr>
            <a:r>
              <a:rPr lang="en-US" sz="1950" spc="-59" kern="0" dirty="0">
                <a:solidFill>
                  <a:srgbClr val="000000"/>
                </a:solidFill>
                <a:latin typeface="Twemoji Mozilla" pitchFamily="34" charset="0"/>
                <a:ea typeface="Twemoji Mozilla" pitchFamily="34" charset="-122"/>
                <a:cs typeface="Twemoji Mozilla" pitchFamily="34" charset="-120"/>
              </a:rPr>
              <a:t>✅</a:t>
            </a:r>
            <a:pPr algn="l" indent="0" marL="0">
              <a:lnSpc>
                <a:spcPct val="83000"/>
              </a:lnSpc>
              <a:buNone/>
            </a:pPr>
            <a:r>
              <a:rPr lang="en-US" sz="1950" spc="-59" kern="0" dirty="0">
                <a:solidFill>
                  <a:srgbClr val="272525"/>
                </a:solidFill>
                <a:latin typeface="DM Sans SemiBold" pitchFamily="34" charset="0"/>
                <a:ea typeface="DM Sans SemiBold" pitchFamily="34" charset="-122"/>
                <a:cs typeface="DM Sans SemiBold" pitchFamily="34" charset="-120"/>
              </a:rPr>
              <a:t> Accepted: Delivered Order Volume</a:t>
            </a:r>
            <a:endParaRPr lang="en-US" sz="1950" dirty="0"/>
          </a:p>
        </p:txBody>
      </p:sp>
      <p:sp>
        <p:nvSpPr>
          <p:cNvPr id="8" name="Text 3"/>
          <p:cNvSpPr/>
          <p:nvPr/>
        </p:nvSpPr>
        <p:spPr>
          <a:xfrm>
            <a:off x="1507294" y="2240161"/>
            <a:ext cx="9838583" cy="645021"/>
          </a:xfrm>
          <a:prstGeom prst="rect">
            <a:avLst/>
          </a:prstGeom>
          <a:noFill/>
          <a:ln/>
        </p:spPr>
        <p:txBody>
          <a:bodyPr wrap="square" lIns="0" tIns="0" rIns="0" bIns="0" rtlCol="0" anchor="t">
            <a:normAutofit/>
          </a:bodyPr>
          <a:lstStyle/>
          <a:p>
            <a:pPr algn="l" indent="0" marL="0">
              <a:lnSpc>
                <a:spcPct val="108000"/>
              </a:lnSpc>
              <a:buNone/>
            </a:pPr>
            <a:r>
              <a:rPr lang="en-US" sz="1300" spc="-13" kern="0" dirty="0">
                <a:solidFill>
                  <a:srgbClr val="272525"/>
                </a:solidFill>
                <a:latin typeface="DM Sans" pitchFamily="34" charset="0"/>
                <a:ea typeface="DM Sans" pitchFamily="34" charset="-122"/>
                <a:cs typeface="DM Sans" pitchFamily="34" charset="-120"/>
              </a:rPr>
              <a:t>Revenue consistently tracked with delivered order volume across all three years. The 2.52% decline in delivered orders between Jan–Apr 2024 and Jan–Apr 2026 directly explains the revenue drop. This was confirmed as the </a:t>
            </a:r>
            <a:pPr algn="l" indent="0" marL="0">
              <a:lnSpc>
                <a:spcPct val="108000"/>
              </a:lnSpc>
              <a:buNone/>
            </a:pPr>
            <a:r>
              <a:rPr lang="en-US" sz="1300" b="1" spc="-13" kern="0" dirty="0">
                <a:solidFill>
                  <a:srgbClr val="272525"/>
                </a:solidFill>
                <a:latin typeface="DM Sans Bold" pitchFamily="34" charset="0"/>
                <a:ea typeface="DM Sans Bold" pitchFamily="34" charset="-122"/>
                <a:cs typeface="DM Sans Bold" pitchFamily="34" charset="-120"/>
              </a:rPr>
              <a:t>primary cause</a:t>
            </a:r>
            <a:pPr algn="l" indent="0" marL="0">
              <a:lnSpc>
                <a:spcPct val="108000"/>
              </a:lnSpc>
              <a:buNone/>
            </a:pPr>
            <a:r>
              <a:rPr lang="en-US" sz="1300" spc="-13" kern="0" dirty="0">
                <a:solidFill>
                  <a:srgbClr val="272525"/>
                </a:solidFill>
                <a:latin typeface="DM Sans" pitchFamily="34" charset="0"/>
                <a:ea typeface="DM Sans" pitchFamily="34" charset="-122"/>
                <a:cs typeface="DM Sans" pitchFamily="34" charset="-120"/>
              </a:rPr>
              <a:t> of inconsistent revenue.</a:t>
            </a:r>
            <a:endParaRPr lang="en-US" sz="1300" dirty="0"/>
          </a:p>
        </p:txBody>
      </p:sp>
      <p:pic>
        <p:nvPicPr>
          <p:cNvPr id="9"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234829"/>
            <a:ext cx="10868745" cy="1367334"/>
          </a:xfrm>
          <a:prstGeom prst="rect">
            <a:avLst/>
          </a:prstGeom>
        </p:spPr>
      </p:pic>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4017" y="3794423"/>
            <a:ext cx="248041" cy="248047"/>
          </a:xfrm>
          <a:prstGeom prst="rect">
            <a:avLst/>
          </a:prstGeom>
        </p:spPr>
      </p:pic>
      <p:sp>
        <p:nvSpPr>
          <p:cNvPr id="11" name="Text 4"/>
          <p:cNvSpPr/>
          <p:nvPr/>
        </p:nvSpPr>
        <p:spPr>
          <a:xfrm>
            <a:off x="1507294" y="3419177"/>
            <a:ext cx="9838583" cy="254397"/>
          </a:xfrm>
          <a:prstGeom prst="rect">
            <a:avLst/>
          </a:prstGeom>
          <a:noFill/>
          <a:ln/>
        </p:spPr>
        <p:txBody>
          <a:bodyPr wrap="none" lIns="0" tIns="0" rIns="0" bIns="0" rtlCol="0" anchor="t"/>
          <a:lstStyle/>
          <a:p>
            <a:pPr algn="l" indent="0" marL="0">
              <a:lnSpc>
                <a:spcPct val="83000"/>
              </a:lnSpc>
              <a:buNone/>
            </a:pPr>
            <a:r>
              <a:rPr lang="en-US" sz="1950" spc="-59" kern="0" dirty="0">
                <a:solidFill>
                  <a:srgbClr val="000000"/>
                </a:solidFill>
                <a:latin typeface="Twemoji Mozilla" pitchFamily="34" charset="0"/>
                <a:ea typeface="Twemoji Mozilla" pitchFamily="34" charset="-122"/>
                <a:cs typeface="Twemoji Mozilla" pitchFamily="34" charset="-120"/>
              </a:rPr>
              <a:t>❌</a:t>
            </a:r>
            <a:pPr algn="l" indent="0" marL="0">
              <a:lnSpc>
                <a:spcPct val="83000"/>
              </a:lnSpc>
              <a:buNone/>
            </a:pPr>
            <a:r>
              <a:rPr lang="en-US" sz="1950" spc="-59" kern="0" dirty="0">
                <a:solidFill>
                  <a:srgbClr val="272525"/>
                </a:solidFill>
                <a:latin typeface="DM Sans SemiBold" pitchFamily="34" charset="0"/>
                <a:ea typeface="DM Sans SemiBold" pitchFamily="34" charset="-122"/>
                <a:cs typeface="DM Sans SemiBold" pitchFamily="34" charset="-120"/>
              </a:rPr>
              <a:t> Rejected: AOV, Cancellations &amp; Discounts</a:t>
            </a:r>
            <a:endParaRPr lang="en-US" sz="1950" dirty="0"/>
          </a:p>
        </p:txBody>
      </p:sp>
      <p:sp>
        <p:nvSpPr>
          <p:cNvPr id="12" name="Text 5"/>
          <p:cNvSpPr/>
          <p:nvPr/>
        </p:nvSpPr>
        <p:spPr>
          <a:xfrm>
            <a:off x="1507294" y="3772793"/>
            <a:ext cx="9838583" cy="645021"/>
          </a:xfrm>
          <a:prstGeom prst="rect">
            <a:avLst/>
          </a:prstGeom>
          <a:noFill/>
          <a:ln/>
        </p:spPr>
        <p:txBody>
          <a:bodyPr wrap="square" lIns="0" tIns="0" rIns="0" bIns="0" rtlCol="0" anchor="t">
            <a:normAutofit/>
          </a:bodyPr>
          <a:lstStyle/>
          <a:p>
            <a:pPr algn="l" indent="0" marL="0">
              <a:lnSpc>
                <a:spcPct val="108000"/>
              </a:lnSpc>
              <a:buNone/>
            </a:pPr>
            <a:r>
              <a:rPr lang="en-US" sz="1300" b="1" spc="-13" kern="0" dirty="0">
                <a:solidFill>
                  <a:srgbClr val="272525"/>
                </a:solidFill>
                <a:latin typeface="DM Sans Bold" pitchFamily="34" charset="0"/>
                <a:ea typeface="DM Sans Bold" pitchFamily="34" charset="-122"/>
                <a:cs typeface="DM Sans Bold" pitchFamily="34" charset="-120"/>
              </a:rPr>
              <a:t>Average Order Value (AOV):</a:t>
            </a:r>
            <a:pPr algn="l" indent="0" marL="0">
              <a:lnSpc>
                <a:spcPct val="108000"/>
              </a:lnSpc>
              <a:buNone/>
            </a:pPr>
            <a:r>
              <a:rPr lang="en-US" sz="1300" spc="-13" kern="0" dirty="0">
                <a:solidFill>
                  <a:srgbClr val="272525"/>
                </a:solidFill>
                <a:latin typeface="DM Sans" pitchFamily="34" charset="0"/>
                <a:ea typeface="DM Sans" pitchFamily="34" charset="-122"/>
                <a:cs typeface="DM Sans" pitchFamily="34" charset="-120"/>
              </a:rPr>
              <a:t> Customer spending remained relatively stable — rejected as a driver. </a:t>
            </a:r>
            <a:pPr algn="l" indent="0" marL="0">
              <a:lnSpc>
                <a:spcPct val="108000"/>
              </a:lnSpc>
              <a:buNone/>
            </a:pPr>
            <a:r>
              <a:rPr lang="en-US" sz="1300" b="1" spc="-13" kern="0" dirty="0">
                <a:solidFill>
                  <a:srgbClr val="272525"/>
                </a:solidFill>
                <a:latin typeface="DM Sans Bold" pitchFamily="34" charset="0"/>
                <a:ea typeface="DM Sans Bold" pitchFamily="34" charset="-122"/>
                <a:cs typeface="DM Sans Bold" pitchFamily="34" charset="-120"/>
              </a:rPr>
              <a:t>Cancellation Rates:</a:t>
            </a:r>
            <a:pPr algn="l" indent="0" marL="0">
              <a:lnSpc>
                <a:spcPct val="108000"/>
              </a:lnSpc>
              <a:buNone/>
            </a:pPr>
            <a:r>
              <a:rPr lang="en-US" sz="1300" spc="-13" kern="0" dirty="0">
                <a:solidFill>
                  <a:srgbClr val="272525"/>
                </a:solidFill>
                <a:latin typeface="DM Sans" pitchFamily="34" charset="0"/>
                <a:ea typeface="DM Sans" pitchFamily="34" charset="-122"/>
                <a:cs typeface="DM Sans" pitchFamily="34" charset="-120"/>
              </a:rPr>
              <a:t> Overall cancellation rates remained almost unchanged across three years — rejected as a primary cause. </a:t>
            </a:r>
            <a:pPr algn="l" indent="0" marL="0">
              <a:lnSpc>
                <a:spcPct val="108000"/>
              </a:lnSpc>
              <a:buNone/>
            </a:pPr>
            <a:r>
              <a:rPr lang="en-US" sz="1300" b="1" spc="-13" kern="0" dirty="0">
                <a:solidFill>
                  <a:srgbClr val="272525"/>
                </a:solidFill>
                <a:latin typeface="DM Sans Bold" pitchFamily="34" charset="0"/>
                <a:ea typeface="DM Sans Bold" pitchFamily="34" charset="-122"/>
                <a:cs typeface="DM Sans Bold" pitchFamily="34" charset="-120"/>
              </a:rPr>
              <a:t>Discounts:</a:t>
            </a:r>
            <a:pPr algn="l" indent="0" marL="0">
              <a:lnSpc>
                <a:spcPct val="108000"/>
              </a:lnSpc>
              <a:buNone/>
            </a:pPr>
            <a:r>
              <a:rPr lang="en-US" sz="1300" spc="-13" kern="0" dirty="0">
                <a:solidFill>
                  <a:srgbClr val="272525"/>
                </a:solidFill>
                <a:latin typeface="DM Sans" pitchFamily="34" charset="0"/>
                <a:ea typeface="DM Sans" pitchFamily="34" charset="-122"/>
                <a:cs typeface="DM Sans" pitchFamily="34" charset="-120"/>
              </a:rPr>
              <a:t> Higher discounts coincided with higher revenue, suggesting discounts supported rather than reduced revenue — rejected.</a:t>
            </a:r>
            <a:endParaRPr lang="en-US" sz="1300" dirty="0"/>
          </a:p>
        </p:txBody>
      </p:sp>
      <p:pic>
        <p:nvPicPr>
          <p:cNvPr id="13"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1475" y="4767461"/>
            <a:ext cx="10868745" cy="1367334"/>
          </a:xfrm>
          <a:prstGeom prst="rect">
            <a:avLst/>
          </a:prstGeom>
        </p:spPr>
      </p:pic>
      <p:pic>
        <p:nvPicPr>
          <p:cNvPr id="14"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84017" y="5327055"/>
            <a:ext cx="248041" cy="248047"/>
          </a:xfrm>
          <a:prstGeom prst="rect">
            <a:avLst/>
          </a:prstGeom>
        </p:spPr>
      </p:pic>
      <p:sp>
        <p:nvSpPr>
          <p:cNvPr id="15" name="Text 6"/>
          <p:cNvSpPr/>
          <p:nvPr/>
        </p:nvSpPr>
        <p:spPr>
          <a:xfrm>
            <a:off x="1507294" y="4951809"/>
            <a:ext cx="9838583" cy="254397"/>
          </a:xfrm>
          <a:prstGeom prst="rect">
            <a:avLst/>
          </a:prstGeom>
          <a:noFill/>
          <a:ln/>
        </p:spPr>
        <p:txBody>
          <a:bodyPr wrap="none" lIns="0" tIns="0" rIns="0" bIns="0" rtlCol="0" anchor="t"/>
          <a:lstStyle/>
          <a:p>
            <a:pPr algn="l" indent="0" marL="0">
              <a:lnSpc>
                <a:spcPct val="83000"/>
              </a:lnSpc>
              <a:buNone/>
            </a:pPr>
            <a:r>
              <a:rPr lang="en-US" sz="1950" spc="-59" kern="0" dirty="0">
                <a:solidFill>
                  <a:srgbClr val="000000"/>
                </a:solidFill>
                <a:latin typeface="Twemoji Mozilla" pitchFamily="34" charset="0"/>
                <a:ea typeface="Twemoji Mozilla" pitchFamily="34" charset="-122"/>
                <a:cs typeface="Twemoji Mozilla" pitchFamily="34" charset="-120"/>
              </a:rPr>
              <a:t>⚠️</a:t>
            </a:r>
            <a:pPr algn="l" indent="0" marL="0">
              <a:lnSpc>
                <a:spcPct val="83000"/>
              </a:lnSpc>
              <a:buNone/>
            </a:pPr>
            <a:r>
              <a:rPr lang="en-US" sz="1950" spc="-59" kern="0" dirty="0">
                <a:solidFill>
                  <a:srgbClr val="272525"/>
                </a:solidFill>
                <a:latin typeface="DM Sans SemiBold" pitchFamily="34" charset="0"/>
                <a:ea typeface="DM Sans SemiBold" pitchFamily="34" charset="-122"/>
                <a:cs typeface="DM Sans SemiBold" pitchFamily="34" charset="-120"/>
              </a:rPr>
              <a:t> Partially Accepted: Refunds</a:t>
            </a:r>
            <a:endParaRPr lang="en-US" sz="1950" dirty="0"/>
          </a:p>
        </p:txBody>
      </p:sp>
      <p:sp>
        <p:nvSpPr>
          <p:cNvPr id="16" name="Text 7"/>
          <p:cNvSpPr/>
          <p:nvPr/>
        </p:nvSpPr>
        <p:spPr>
          <a:xfrm>
            <a:off x="1507294" y="5305425"/>
            <a:ext cx="9838583" cy="645021"/>
          </a:xfrm>
          <a:prstGeom prst="rect">
            <a:avLst/>
          </a:prstGeom>
          <a:noFill/>
          <a:ln/>
        </p:spPr>
        <p:txBody>
          <a:bodyPr wrap="square" lIns="0" tIns="0" rIns="0" bIns="0" rtlCol="0" anchor="t">
            <a:normAutofit/>
          </a:bodyPr>
          <a:lstStyle/>
          <a:p>
            <a:pPr algn="l" indent="0" marL="0">
              <a:lnSpc>
                <a:spcPct val="108000"/>
              </a:lnSpc>
              <a:buNone/>
            </a:pPr>
            <a:r>
              <a:rPr lang="en-US" sz="1300" spc="-13" kern="0" dirty="0">
                <a:solidFill>
                  <a:srgbClr val="272525"/>
                </a:solidFill>
                <a:latin typeface="DM Sans" pitchFamily="34" charset="0"/>
                <a:ea typeface="DM Sans" pitchFamily="34" charset="-122"/>
                <a:cs typeface="DM Sans" pitchFamily="34" charset="-120"/>
              </a:rPr>
              <a:t>Refund rates negatively affected the performance of </a:t>
            </a:r>
            <a:pPr algn="l" indent="0" marL="0">
              <a:lnSpc>
                <a:spcPct val="108000"/>
              </a:lnSpc>
              <a:buNone/>
            </a:pPr>
            <a:r>
              <a:rPr lang="en-US" sz="1300" b="1" spc="-13" kern="0" dirty="0">
                <a:solidFill>
                  <a:srgbClr val="272525"/>
                </a:solidFill>
                <a:latin typeface="DM Sans Bold" pitchFamily="34" charset="0"/>
                <a:ea typeface="DM Sans Bold" pitchFamily="34" charset="-122"/>
                <a:cs typeface="DM Sans Bold" pitchFamily="34" charset="-120"/>
              </a:rPr>
              <a:t>some individual restaurants</a:t>
            </a:r>
            <a:pPr algn="l" indent="0" marL="0">
              <a:lnSpc>
                <a:spcPct val="108000"/>
              </a:lnSpc>
              <a:buNone/>
            </a:pPr>
            <a:r>
              <a:rPr lang="en-US" sz="1300" spc="-13" kern="0" dirty="0">
                <a:solidFill>
                  <a:srgbClr val="272525"/>
                </a:solidFill>
                <a:latin typeface="DM Sans" pitchFamily="34" charset="0"/>
                <a:ea typeface="DM Sans" pitchFamily="34" charset="-122"/>
                <a:cs typeface="DM Sans" pitchFamily="34" charset="-120"/>
              </a:rPr>
              <a:t>, but were not significant enough to explain the overall decline in revenue. Refunds are a contributing factor at the restaurant level, not the business-wide level, and require targeted monitoring rather than a wholesale policy response.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09687"/>
            <a:ext cx="10868745" cy="351433"/>
          </a:xfrm>
          <a:prstGeom prst="rect">
            <a:avLst/>
          </a:prstGeom>
          <a:noFill/>
          <a:ln/>
        </p:spPr>
        <p:txBody>
          <a:bodyPr wrap="none" lIns="0" tIns="0" rIns="0" bIns="0" rtlCol="0" anchor="t"/>
          <a:lstStyle/>
          <a:p>
            <a:pPr algn="l" indent="0" marL="0">
              <a:lnSpc>
                <a:spcPct val="83000"/>
              </a:lnSpc>
              <a:buNone/>
            </a:pPr>
            <a:r>
              <a:rPr lang="en-US" sz="2750" spc="-83" kern="0" dirty="0">
                <a:solidFill>
                  <a:srgbClr val="000000"/>
                </a:solidFill>
                <a:latin typeface="DM Sans SemiBold" pitchFamily="34" charset="0"/>
                <a:ea typeface="DM Sans SemiBold" pitchFamily="34" charset="-122"/>
                <a:cs typeface="DM Sans SemiBold" pitchFamily="34" charset="-120"/>
              </a:rPr>
              <a:t>Problem 2: Restaurant Underperformance — Key Findings</a:t>
            </a:r>
            <a:endParaRPr lang="en-US" sz="2750" dirty="0"/>
          </a:p>
        </p:txBody>
      </p:sp>
      <p:pic>
        <p:nvPicPr>
          <p:cNvPr id="3" name="Image 0" descr="preencoded.png">    </p:cNvPr>
          <p:cNvPicPr>
            <a:picLocks noChangeAspect="1"/>
          </p:cNvPicPr>
          <p:nvPr/>
        </p:nvPicPr>
        <p:blipFill>
          <a:blip r:embed="rId1"/>
          <a:stretch>
            <a:fillRect/>
          </a:stretch>
        </p:blipFill>
        <p:spPr>
          <a:xfrm>
            <a:off x="661475" y="1100038"/>
            <a:ext cx="9724484" cy="3144242"/>
          </a:xfrm>
          <a:prstGeom prst="rect">
            <a:avLst/>
          </a:prstGeom>
        </p:spPr>
      </p:pic>
      <p:sp>
        <p:nvSpPr>
          <p:cNvPr id="4" name="Text 1"/>
          <p:cNvSpPr/>
          <p:nvPr/>
        </p:nvSpPr>
        <p:spPr>
          <a:xfrm>
            <a:off x="1374934" y="2933722"/>
            <a:ext cx="2133674" cy="213373"/>
          </a:xfrm>
          <a:prstGeom prst="rect">
            <a:avLst/>
          </a:prstGeom>
          <a:noFill/>
          <a:ln/>
        </p:spPr>
        <p:txBody>
          <a:bodyPr wrap="none" lIns="0" tIns="0" rIns="0" bIns="0" rtlCol="0" anchor="t"/>
          <a:lstStyle/>
          <a:p>
            <a:pPr algn="r" indent="0" marL="0">
              <a:lnSpc>
                <a:spcPct val="83000"/>
              </a:lnSpc>
              <a:buNone/>
            </a:pPr>
            <a:r>
              <a:rPr lang="en-US" sz="1650" spc="-50" kern="0" dirty="0">
                <a:solidFill>
                  <a:srgbClr val="000000"/>
                </a:solidFill>
                <a:latin typeface="DM Sans SemiBold" pitchFamily="34" charset="0"/>
                <a:ea typeface="DM Sans SemiBold" pitchFamily="34" charset="-122"/>
                <a:cs typeface="DM Sans SemiBold" pitchFamily="34" charset="-120"/>
              </a:rPr>
              <a:t>Ratings</a:t>
            </a:r>
            <a:endParaRPr lang="en-US" sz="1650" dirty="0"/>
          </a:p>
        </p:txBody>
      </p:sp>
      <p:sp>
        <p:nvSpPr>
          <p:cNvPr id="5" name="Text 2"/>
          <p:cNvSpPr/>
          <p:nvPr/>
        </p:nvSpPr>
        <p:spPr>
          <a:xfrm>
            <a:off x="891301" y="3222961"/>
            <a:ext cx="2617307" cy="592109"/>
          </a:xfrm>
          <a:prstGeom prst="rect">
            <a:avLst/>
          </a:prstGeom>
          <a:noFill/>
          <a:ln/>
        </p:spPr>
        <p:txBody>
          <a:bodyPr wrap="square" lIns="0" tIns="0" rIns="0" bIns="0" rtlCol="0" anchor="t">
            <a:normAutofit/>
          </a:bodyPr>
          <a:lstStyle/>
          <a:p>
            <a:pPr algn="r" indent="0" marL="0">
              <a:lnSpc>
                <a:spcPct val="96000"/>
              </a:lnSpc>
              <a:buNone/>
            </a:pPr>
            <a:r>
              <a:rPr lang="en-US" sz="1300" spc="-17" kern="0" dirty="0">
                <a:solidFill>
                  <a:srgbClr val="272525"/>
                </a:solidFill>
                <a:latin typeface="DM Sans" pitchFamily="34" charset="0"/>
                <a:ea typeface="DM Sans" pitchFamily="34" charset="-122"/>
                <a:cs typeface="DM Sans" pitchFamily="34" charset="-120"/>
              </a:rPr>
              <a:t>Rejected. Ratings between 3.5–4.9 did not determine performance.</a:t>
            </a:r>
            <a:endParaRPr lang="en-US" sz="1300" dirty="0"/>
          </a:p>
        </p:txBody>
      </p:sp>
      <p:sp>
        <p:nvSpPr>
          <p:cNvPr id="6" name="Text 3"/>
          <p:cNvSpPr/>
          <p:nvPr/>
        </p:nvSpPr>
        <p:spPr>
          <a:xfrm>
            <a:off x="7605115" y="2189288"/>
            <a:ext cx="2133675" cy="213373"/>
          </a:xfrm>
          <a:prstGeom prst="rect">
            <a:avLst/>
          </a:prstGeom>
          <a:noFill/>
          <a:ln/>
        </p:spPr>
        <p:txBody>
          <a:bodyPr wrap="none" lIns="0" tIns="0" rIns="0" bIns="0" rtlCol="0" anchor="t"/>
          <a:lstStyle/>
          <a:p>
            <a:pPr algn="l" indent="0" marL="0">
              <a:lnSpc>
                <a:spcPct val="83000"/>
              </a:lnSpc>
              <a:buNone/>
            </a:pPr>
            <a:r>
              <a:rPr lang="en-US" sz="1650" spc="-50" kern="0" dirty="0">
                <a:solidFill>
                  <a:srgbClr val="000000"/>
                </a:solidFill>
                <a:latin typeface="DM Sans SemiBold" pitchFamily="34" charset="0"/>
                <a:ea typeface="DM Sans SemiBold" pitchFamily="34" charset="-122"/>
                <a:cs typeface="DM Sans SemiBold" pitchFamily="34" charset="-120"/>
              </a:rPr>
              <a:t>Acquisition</a:t>
            </a:r>
            <a:endParaRPr lang="en-US" sz="1650" dirty="0"/>
          </a:p>
        </p:txBody>
      </p:sp>
      <p:sp>
        <p:nvSpPr>
          <p:cNvPr id="7" name="Text 4"/>
          <p:cNvSpPr/>
          <p:nvPr/>
        </p:nvSpPr>
        <p:spPr>
          <a:xfrm>
            <a:off x="7605115" y="2478527"/>
            <a:ext cx="2550926" cy="592110"/>
          </a:xfrm>
          <a:prstGeom prst="rect">
            <a:avLst/>
          </a:prstGeom>
          <a:noFill/>
          <a:ln/>
        </p:spPr>
        <p:txBody>
          <a:bodyPr wrap="square" lIns="0" tIns="0" rIns="0" bIns="0" rtlCol="0" anchor="t">
            <a:normAutofit/>
          </a:bodyPr>
          <a:lstStyle/>
          <a:p>
            <a:pPr algn="l" indent="0" marL="0">
              <a:lnSpc>
                <a:spcPct val="96000"/>
              </a:lnSpc>
              <a:buNone/>
            </a:pPr>
            <a:r>
              <a:rPr lang="en-US" sz="1300" spc="-17" kern="0" dirty="0">
                <a:solidFill>
                  <a:srgbClr val="272525"/>
                </a:solidFill>
                <a:latin typeface="DM Sans" pitchFamily="34" charset="0"/>
                <a:ea typeface="DM Sans" pitchFamily="34" charset="-122"/>
                <a:cs typeface="DM Sans" pitchFamily="34" charset="-120"/>
              </a:rPr>
              <a:t>Rejected. Channels active but data insufficient for year-wise trends.</a:t>
            </a:r>
            <a:endParaRPr lang="en-US" sz="1300" dirty="0"/>
          </a:p>
        </p:txBody>
      </p:sp>
      <p:sp>
        <p:nvSpPr>
          <p:cNvPr id="8" name="Text 5"/>
          <p:cNvSpPr/>
          <p:nvPr/>
        </p:nvSpPr>
        <p:spPr>
          <a:xfrm>
            <a:off x="1145268" y="1609922"/>
            <a:ext cx="2363192" cy="213373"/>
          </a:xfrm>
          <a:prstGeom prst="rect">
            <a:avLst/>
          </a:prstGeom>
          <a:noFill/>
          <a:ln/>
        </p:spPr>
        <p:txBody>
          <a:bodyPr wrap="none" lIns="0" tIns="0" rIns="0" bIns="0" rtlCol="0" anchor="t"/>
          <a:lstStyle/>
          <a:p>
            <a:pPr algn="r" indent="0" marL="0">
              <a:lnSpc>
                <a:spcPct val="83000"/>
              </a:lnSpc>
              <a:buNone/>
            </a:pPr>
            <a:r>
              <a:rPr lang="en-US" sz="1650" spc="-50" kern="0" dirty="0">
                <a:solidFill>
                  <a:srgbClr val="000000"/>
                </a:solidFill>
                <a:latin typeface="DM Sans SemiBold" pitchFamily="34" charset="0"/>
                <a:ea typeface="DM Sans SemiBold" pitchFamily="34" charset="-122"/>
                <a:cs typeface="DM Sans SemiBold" pitchFamily="34" charset="-120"/>
              </a:rPr>
              <a:t>Cancellations &amp; Refunds</a:t>
            </a:r>
            <a:endParaRPr lang="en-US" sz="1650" dirty="0"/>
          </a:p>
        </p:txBody>
      </p:sp>
      <p:sp>
        <p:nvSpPr>
          <p:cNvPr id="9" name="Text 6"/>
          <p:cNvSpPr/>
          <p:nvPr/>
        </p:nvSpPr>
        <p:spPr>
          <a:xfrm>
            <a:off x="891153" y="1899161"/>
            <a:ext cx="2617307" cy="394739"/>
          </a:xfrm>
          <a:prstGeom prst="rect">
            <a:avLst/>
          </a:prstGeom>
          <a:noFill/>
          <a:ln/>
        </p:spPr>
        <p:txBody>
          <a:bodyPr wrap="square" lIns="0" tIns="0" rIns="0" bIns="0" rtlCol="0" anchor="t">
            <a:normAutofit/>
          </a:bodyPr>
          <a:lstStyle/>
          <a:p>
            <a:pPr algn="r" indent="0" marL="0">
              <a:lnSpc>
                <a:spcPct val="96000"/>
              </a:lnSpc>
              <a:buNone/>
            </a:pPr>
            <a:r>
              <a:rPr lang="en-US" sz="1300" spc="-17" kern="0" dirty="0">
                <a:solidFill>
                  <a:srgbClr val="272525"/>
                </a:solidFill>
                <a:latin typeface="DM Sans" pitchFamily="34" charset="0"/>
                <a:ea typeface="DM Sans" pitchFamily="34" charset="-122"/>
                <a:cs typeface="DM Sans" pitchFamily="34" charset="-120"/>
              </a:rPr>
              <a:t>Partially accepted. Impacted select restaurants, not the whole.</a:t>
            </a:r>
            <a:endParaRPr lang="en-US" sz="1300" dirty="0"/>
          </a:p>
        </p:txBody>
      </p:sp>
      <p:sp>
        <p:nvSpPr>
          <p:cNvPr id="10" name="Text 7"/>
          <p:cNvSpPr/>
          <p:nvPr/>
        </p:nvSpPr>
        <p:spPr>
          <a:xfrm>
            <a:off x="661475" y="4378623"/>
            <a:ext cx="11478330" cy="168970"/>
          </a:xfrm>
          <a:prstGeom prst="rect">
            <a:avLst/>
          </a:prstGeom>
          <a:noFill/>
          <a:ln/>
        </p:spPr>
        <p:txBody>
          <a:bodyPr wrap="none" lIns="0" tIns="0" rIns="0" bIns="0" rtlCol="0" anchor="t"/>
          <a:lstStyle/>
          <a:p>
            <a:pPr algn="l" indent="0" marL="0">
              <a:lnSpc>
                <a:spcPct val="100000"/>
              </a:lnSpc>
              <a:buNone/>
            </a:pPr>
            <a:r>
              <a:rPr lang="en-US" sz="1100" spc="-11" kern="0" dirty="0">
                <a:solidFill>
                  <a:srgbClr val="272525"/>
                </a:solidFill>
                <a:latin typeface="DM Sans" pitchFamily="34" charset="0"/>
                <a:ea typeface="DM Sans" pitchFamily="34" charset="-122"/>
                <a:cs typeface="DM Sans" pitchFamily="34" charset="-120"/>
              </a:rPr>
              <a:t>Restaurant underperformance cannot be explained by a single factor — it is driven by a </a:t>
            </a:r>
            <a:pPr algn="l" indent="0" marL="0">
              <a:lnSpc>
                <a:spcPct val="100000"/>
              </a:lnSpc>
              <a:buNone/>
            </a:pPr>
            <a:r>
              <a:rPr lang="en-US" sz="1100" b="1" spc="-11" kern="0" dirty="0">
                <a:solidFill>
                  <a:srgbClr val="272525"/>
                </a:solidFill>
                <a:latin typeface="DM Sans Bold" pitchFamily="34" charset="0"/>
                <a:ea typeface="DM Sans Bold" pitchFamily="34" charset="-122"/>
                <a:cs typeface="DM Sans Bold" pitchFamily="34" charset="-120"/>
              </a:rPr>
              <a:t>combination of operational and customer-related factors</a:t>
            </a:r>
            <a:pPr algn="l" indent="0" marL="0">
              <a:lnSpc>
                <a:spcPct val="100000"/>
              </a:lnSpc>
              <a:buNone/>
            </a:pPr>
            <a:r>
              <a:rPr lang="en-US" sz="1100" spc="-11" kern="0" dirty="0">
                <a:solidFill>
                  <a:srgbClr val="272525"/>
                </a:solidFill>
                <a:latin typeface="DM Sans" pitchFamily="34" charset="0"/>
                <a:ea typeface="DM Sans" pitchFamily="34" charset="-122"/>
                <a:cs typeface="DM Sans" pitchFamily="34" charset="-120"/>
              </a:rPr>
              <a:t>.</a:t>
            </a:r>
            <a:endParaRPr lang="en-US" sz="1100" dirty="0"/>
          </a:p>
        </p:txBody>
      </p:sp>
      <p:sp>
        <p:nvSpPr>
          <p:cNvPr id="11" name="Text 8"/>
          <p:cNvSpPr/>
          <p:nvPr/>
        </p:nvSpPr>
        <p:spPr>
          <a:xfrm>
            <a:off x="661475" y="4681934"/>
            <a:ext cx="281080" cy="140494"/>
          </a:xfrm>
          <a:prstGeom prst="rect">
            <a:avLst/>
          </a:prstGeom>
          <a:noFill/>
          <a:ln/>
        </p:spPr>
        <p:txBody>
          <a:bodyPr wrap="none" lIns="0" tIns="0" rIns="0" bIns="0" rtlCol="0" anchor="ctr"/>
          <a:lstStyle/>
          <a:p>
            <a:pPr algn="l" indent="0" marL="0">
              <a:lnSpc>
                <a:spcPct val="100000"/>
              </a:lnSpc>
              <a:buNone/>
            </a:pPr>
            <a:r>
              <a:rPr lang="en-US" sz="1100" spc="-33" kern="0" dirty="0">
                <a:solidFill>
                  <a:srgbClr val="272525"/>
                </a:solidFill>
                <a:latin typeface="DM Sans Light" pitchFamily="34" charset="0"/>
                <a:ea typeface="DM Sans Light" pitchFamily="34" charset="-122"/>
                <a:cs typeface="DM Sans Light" pitchFamily="34" charset="-120"/>
              </a:rPr>
              <a:t>01</a:t>
            </a:r>
            <a:endParaRPr lang="en-US" sz="1100" dirty="0"/>
          </a:p>
        </p:txBody>
      </p:sp>
      <p:sp>
        <p:nvSpPr>
          <p:cNvPr id="12" name="Shape 9"/>
          <p:cNvSpPr/>
          <p:nvPr/>
        </p:nvSpPr>
        <p:spPr>
          <a:xfrm>
            <a:off x="661475" y="4866580"/>
            <a:ext cx="3543211" cy="19050"/>
          </a:xfrm>
          <a:prstGeom prst="rect">
            <a:avLst/>
          </a:prstGeom>
          <a:solidFill>
            <a:srgbClr val="E07A5F"/>
          </a:solidFill>
          <a:ln/>
        </p:spPr>
      </p:sp>
      <p:sp>
        <p:nvSpPr>
          <p:cNvPr id="13" name="Text 10"/>
          <p:cNvSpPr/>
          <p:nvPr/>
        </p:nvSpPr>
        <p:spPr>
          <a:xfrm>
            <a:off x="661475" y="4974927"/>
            <a:ext cx="3543211" cy="175716"/>
          </a:xfrm>
          <a:prstGeom prst="rect">
            <a:avLst/>
          </a:prstGeom>
          <a:noFill/>
          <a:ln/>
        </p:spPr>
        <p:txBody>
          <a:bodyPr wrap="none" lIns="0" tIns="0" rIns="0" bIns="0" rtlCol="0" anchor="t"/>
          <a:lstStyle/>
          <a:p>
            <a:pPr algn="l" indent="0" marL="0">
              <a:lnSpc>
                <a:spcPct val="83000"/>
              </a:lnSpc>
              <a:buNone/>
            </a:pPr>
            <a:r>
              <a:rPr lang="en-US" sz="1350" spc="-42" kern="0" dirty="0">
                <a:solidFill>
                  <a:srgbClr val="272525"/>
                </a:solidFill>
                <a:latin typeface="DM Sans SemiBold" pitchFamily="34" charset="0"/>
                <a:ea typeface="DM Sans SemiBold" pitchFamily="34" charset="-122"/>
                <a:cs typeface="DM Sans SemiBold" pitchFamily="34" charset="-120"/>
              </a:rPr>
              <a:t>Ratings — Rejected</a:t>
            </a:r>
            <a:endParaRPr lang="en-US" sz="1350" dirty="0"/>
          </a:p>
        </p:txBody>
      </p:sp>
      <p:sp>
        <p:nvSpPr>
          <p:cNvPr id="14" name="Text 11"/>
          <p:cNvSpPr/>
          <p:nvPr/>
        </p:nvSpPr>
        <p:spPr>
          <a:xfrm>
            <a:off x="661475" y="5222280"/>
            <a:ext cx="3543211" cy="844848"/>
          </a:xfrm>
          <a:prstGeom prst="rect">
            <a:avLst/>
          </a:prstGeom>
          <a:noFill/>
          <a:ln/>
        </p:spPr>
        <p:txBody>
          <a:bodyPr wrap="square" lIns="0" tIns="0" rIns="0" bIns="0" rtlCol="0" anchor="t">
            <a:normAutofit/>
          </a:bodyPr>
          <a:lstStyle/>
          <a:p>
            <a:pPr algn="l" indent="0" marL="0">
              <a:lnSpc>
                <a:spcPct val="100000"/>
              </a:lnSpc>
              <a:buNone/>
            </a:pPr>
            <a:r>
              <a:rPr lang="en-US" sz="1100" spc="-11" kern="0" dirty="0">
                <a:solidFill>
                  <a:srgbClr val="272525"/>
                </a:solidFill>
                <a:latin typeface="DM Sans" pitchFamily="34" charset="0"/>
                <a:ea typeface="DM Sans" pitchFamily="34" charset="-122"/>
                <a:cs typeface="DM Sans" pitchFamily="34" charset="-120"/>
              </a:rPr>
              <a:t>Most restaurants in Pune, Mumbai, Delhi, and Gurugram maintained ratings between 3.5 and 4.9. Highly rated restaurants experienced declining orders; lower-rated ones continued to perform well. Ratings alone do not determine business performance.</a:t>
            </a:r>
            <a:endParaRPr lang="en-US" sz="1100" dirty="0"/>
          </a:p>
        </p:txBody>
      </p:sp>
      <p:sp>
        <p:nvSpPr>
          <p:cNvPr id="15" name="Text 12"/>
          <p:cNvSpPr/>
          <p:nvPr/>
        </p:nvSpPr>
        <p:spPr>
          <a:xfrm>
            <a:off x="4324143" y="4681934"/>
            <a:ext cx="281080" cy="140494"/>
          </a:xfrm>
          <a:prstGeom prst="rect">
            <a:avLst/>
          </a:prstGeom>
          <a:noFill/>
          <a:ln/>
        </p:spPr>
        <p:txBody>
          <a:bodyPr wrap="none" lIns="0" tIns="0" rIns="0" bIns="0" rtlCol="0" anchor="ctr"/>
          <a:lstStyle/>
          <a:p>
            <a:pPr algn="l" indent="0" marL="0">
              <a:lnSpc>
                <a:spcPct val="100000"/>
              </a:lnSpc>
              <a:buNone/>
            </a:pPr>
            <a:r>
              <a:rPr lang="en-US" sz="1100" spc="-33" kern="0" dirty="0">
                <a:solidFill>
                  <a:srgbClr val="272525"/>
                </a:solidFill>
                <a:latin typeface="DM Sans Light" pitchFamily="34" charset="0"/>
                <a:ea typeface="DM Sans Light" pitchFamily="34" charset="-122"/>
                <a:cs typeface="DM Sans Light" pitchFamily="34" charset="-120"/>
              </a:rPr>
              <a:t>02</a:t>
            </a:r>
            <a:endParaRPr lang="en-US" sz="1100" dirty="0"/>
          </a:p>
        </p:txBody>
      </p:sp>
      <p:sp>
        <p:nvSpPr>
          <p:cNvPr id="16" name="Shape 13"/>
          <p:cNvSpPr/>
          <p:nvPr/>
        </p:nvSpPr>
        <p:spPr>
          <a:xfrm>
            <a:off x="4324143" y="4866580"/>
            <a:ext cx="3543311" cy="19050"/>
          </a:xfrm>
          <a:prstGeom prst="rect">
            <a:avLst/>
          </a:prstGeom>
          <a:solidFill>
            <a:srgbClr val="E07A5F"/>
          </a:solidFill>
          <a:ln/>
        </p:spPr>
      </p:sp>
      <p:sp>
        <p:nvSpPr>
          <p:cNvPr id="17" name="Text 14"/>
          <p:cNvSpPr/>
          <p:nvPr/>
        </p:nvSpPr>
        <p:spPr>
          <a:xfrm>
            <a:off x="4324143" y="4974927"/>
            <a:ext cx="3543311" cy="175716"/>
          </a:xfrm>
          <a:prstGeom prst="rect">
            <a:avLst/>
          </a:prstGeom>
          <a:noFill/>
          <a:ln/>
        </p:spPr>
        <p:txBody>
          <a:bodyPr wrap="none" lIns="0" tIns="0" rIns="0" bIns="0" rtlCol="0" anchor="t"/>
          <a:lstStyle/>
          <a:p>
            <a:pPr algn="l" indent="0" marL="0">
              <a:lnSpc>
                <a:spcPct val="83000"/>
              </a:lnSpc>
              <a:buNone/>
            </a:pPr>
            <a:r>
              <a:rPr lang="en-US" sz="1350" spc="-42" kern="0" dirty="0">
                <a:solidFill>
                  <a:srgbClr val="272525"/>
                </a:solidFill>
                <a:latin typeface="DM Sans SemiBold" pitchFamily="34" charset="0"/>
                <a:ea typeface="DM Sans SemiBold" pitchFamily="34" charset="-122"/>
                <a:cs typeface="DM Sans SemiBold" pitchFamily="34" charset="-120"/>
              </a:rPr>
              <a:t>Customer Acquisition — Rejected</a:t>
            </a:r>
            <a:endParaRPr lang="en-US" sz="1350" dirty="0"/>
          </a:p>
        </p:txBody>
      </p:sp>
      <p:sp>
        <p:nvSpPr>
          <p:cNvPr id="18" name="Text 15"/>
          <p:cNvSpPr/>
          <p:nvPr/>
        </p:nvSpPr>
        <p:spPr>
          <a:xfrm>
            <a:off x="4324143" y="5222280"/>
            <a:ext cx="3543311" cy="844848"/>
          </a:xfrm>
          <a:prstGeom prst="rect">
            <a:avLst/>
          </a:prstGeom>
          <a:noFill/>
          <a:ln/>
        </p:spPr>
        <p:txBody>
          <a:bodyPr wrap="square" lIns="0" tIns="0" rIns="0" bIns="0" rtlCol="0" anchor="t">
            <a:normAutofit/>
          </a:bodyPr>
          <a:lstStyle/>
          <a:p>
            <a:pPr algn="l" indent="0" marL="0">
              <a:lnSpc>
                <a:spcPct val="100000"/>
              </a:lnSpc>
              <a:buNone/>
            </a:pPr>
            <a:r>
              <a:rPr lang="en-US" sz="1100" spc="-11" kern="0" dirty="0">
                <a:solidFill>
                  <a:srgbClr val="272525"/>
                </a:solidFill>
                <a:latin typeface="DM Sans" pitchFamily="34" charset="0"/>
                <a:ea typeface="DM Sans" pitchFamily="34" charset="-122"/>
                <a:cs typeface="DM Sans" pitchFamily="34" charset="-120"/>
              </a:rPr>
              <a:t>Channels including Instagram Ads, Referral, Google Ads, WhatsApp Campaign, and Organic remained active. Due to absent signup dates in the dataset, year-wise trends could not be evaluated. No evidence that acquisition channels caused underperformance.</a:t>
            </a:r>
            <a:endParaRPr lang="en-US" sz="1100" dirty="0"/>
          </a:p>
        </p:txBody>
      </p:sp>
      <p:sp>
        <p:nvSpPr>
          <p:cNvPr id="19" name="Text 16"/>
          <p:cNvSpPr/>
          <p:nvPr/>
        </p:nvSpPr>
        <p:spPr>
          <a:xfrm>
            <a:off x="7986910" y="4681934"/>
            <a:ext cx="281080" cy="140494"/>
          </a:xfrm>
          <a:prstGeom prst="rect">
            <a:avLst/>
          </a:prstGeom>
          <a:noFill/>
          <a:ln/>
        </p:spPr>
        <p:txBody>
          <a:bodyPr wrap="none" lIns="0" tIns="0" rIns="0" bIns="0" rtlCol="0" anchor="ctr"/>
          <a:lstStyle/>
          <a:p>
            <a:pPr algn="l" indent="0" marL="0">
              <a:lnSpc>
                <a:spcPct val="100000"/>
              </a:lnSpc>
              <a:buNone/>
            </a:pPr>
            <a:r>
              <a:rPr lang="en-US" sz="1100" spc="-33" kern="0" dirty="0">
                <a:solidFill>
                  <a:srgbClr val="272525"/>
                </a:solidFill>
                <a:latin typeface="DM Sans Light" pitchFamily="34" charset="0"/>
                <a:ea typeface="DM Sans Light" pitchFamily="34" charset="-122"/>
                <a:cs typeface="DM Sans Light" pitchFamily="34" charset="-120"/>
              </a:rPr>
              <a:t>03</a:t>
            </a:r>
            <a:endParaRPr lang="en-US" sz="1100" dirty="0"/>
          </a:p>
        </p:txBody>
      </p:sp>
      <p:sp>
        <p:nvSpPr>
          <p:cNvPr id="20" name="Shape 17"/>
          <p:cNvSpPr/>
          <p:nvPr/>
        </p:nvSpPr>
        <p:spPr>
          <a:xfrm>
            <a:off x="7986910" y="4866580"/>
            <a:ext cx="3543311" cy="19050"/>
          </a:xfrm>
          <a:prstGeom prst="rect">
            <a:avLst/>
          </a:prstGeom>
          <a:solidFill>
            <a:srgbClr val="E07A5F"/>
          </a:solidFill>
          <a:ln/>
        </p:spPr>
      </p:sp>
      <p:sp>
        <p:nvSpPr>
          <p:cNvPr id="21" name="Text 18"/>
          <p:cNvSpPr/>
          <p:nvPr/>
        </p:nvSpPr>
        <p:spPr>
          <a:xfrm>
            <a:off x="7986910" y="4974927"/>
            <a:ext cx="3543311" cy="351433"/>
          </a:xfrm>
          <a:prstGeom prst="rect">
            <a:avLst/>
          </a:prstGeom>
          <a:noFill/>
          <a:ln/>
        </p:spPr>
        <p:txBody>
          <a:bodyPr wrap="square" lIns="0" tIns="0" rIns="0" bIns="0" rtlCol="0" anchor="t">
            <a:normAutofit/>
          </a:bodyPr>
          <a:lstStyle/>
          <a:p>
            <a:pPr algn="l" indent="0" marL="0">
              <a:lnSpc>
                <a:spcPct val="83000"/>
              </a:lnSpc>
              <a:buNone/>
            </a:pPr>
            <a:r>
              <a:rPr lang="en-US" sz="1350" spc="-42" kern="0" dirty="0">
                <a:solidFill>
                  <a:srgbClr val="272525"/>
                </a:solidFill>
                <a:latin typeface="DM Sans SemiBold" pitchFamily="34" charset="0"/>
                <a:ea typeface="DM Sans SemiBold" pitchFamily="34" charset="-122"/>
                <a:cs typeface="DM Sans SemiBold" pitchFamily="34" charset="-120"/>
              </a:rPr>
              <a:t>Cancellations &amp; Refunds — Partially Accepted</a:t>
            </a:r>
            <a:endParaRPr lang="en-US" sz="1350" dirty="0"/>
          </a:p>
        </p:txBody>
      </p:sp>
      <p:sp>
        <p:nvSpPr>
          <p:cNvPr id="22" name="Text 19"/>
          <p:cNvSpPr/>
          <p:nvPr/>
        </p:nvSpPr>
        <p:spPr>
          <a:xfrm>
            <a:off x="7986910" y="5397996"/>
            <a:ext cx="3543311" cy="844848"/>
          </a:xfrm>
          <a:prstGeom prst="rect">
            <a:avLst/>
          </a:prstGeom>
          <a:noFill/>
          <a:ln/>
        </p:spPr>
        <p:txBody>
          <a:bodyPr wrap="square" lIns="0" tIns="0" rIns="0" bIns="0" rtlCol="0" anchor="t">
            <a:normAutofit/>
          </a:bodyPr>
          <a:lstStyle/>
          <a:p>
            <a:pPr algn="l" indent="0" marL="0">
              <a:lnSpc>
                <a:spcPct val="100000"/>
              </a:lnSpc>
              <a:buNone/>
            </a:pPr>
            <a:r>
              <a:rPr lang="en-US" sz="1100" spc="-11" kern="0" dirty="0">
                <a:solidFill>
                  <a:srgbClr val="272525"/>
                </a:solidFill>
                <a:latin typeface="DM Sans" pitchFamily="34" charset="0"/>
                <a:ea typeface="DM Sans" pitchFamily="34" charset="-122"/>
                <a:cs typeface="DM Sans" pitchFamily="34" charset="-120"/>
              </a:rPr>
              <a:t>Higher cancellation and refund rates negatively affected McDonald's, Subway, Pizza Hut, Starbucks, and Burger King. However, some popular restaurants performed well despite high rates, indicating these are contributing — not sole — drivers of underperformance.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09216"/>
            <a:ext cx="6296860" cy="372170"/>
          </a:xfrm>
          <a:prstGeom prst="rect">
            <a:avLst/>
          </a:prstGeom>
          <a:noFill/>
          <a:ln/>
        </p:spPr>
        <p:txBody>
          <a:bodyPr wrap="none" lIns="0" tIns="0" rIns="0" bIns="0" rtlCol="0" anchor="t"/>
          <a:lstStyle/>
          <a:p>
            <a:pPr algn="l" indent="0" marL="0">
              <a:lnSpc>
                <a:spcPct val="83000"/>
              </a:lnSpc>
              <a:buNone/>
            </a:pPr>
            <a:r>
              <a:rPr lang="en-US" sz="2900" spc="-88" kern="0" dirty="0">
                <a:solidFill>
                  <a:srgbClr val="000000"/>
                </a:solidFill>
                <a:latin typeface="DM Sans SemiBold" pitchFamily="34" charset="0"/>
                <a:ea typeface="DM Sans SemiBold" pitchFamily="34" charset="-122"/>
                <a:cs typeface="DM Sans SemiBold" pitchFamily="34" charset="-120"/>
              </a:rPr>
              <a:t>Recommendations</a:t>
            </a:r>
            <a:endParaRPr lang="en-US" sz="2900" dirty="0"/>
          </a:p>
        </p:txBody>
      </p:sp>
      <p:pic>
        <p:nvPicPr>
          <p:cNvPr id="4" name="Image 1" descr="preencoded.png">    </p:cNvPr>
          <p:cNvPicPr>
            <a:picLocks noChangeAspect="1"/>
          </p:cNvPicPr>
          <p:nvPr/>
        </p:nvPicPr>
        <p:blipFill>
          <a:blip r:embed="rId2"/>
          <a:stretch>
            <a:fillRect/>
          </a:stretch>
        </p:blipFill>
        <p:spPr>
          <a:xfrm>
            <a:off x="5233360" y="1282303"/>
            <a:ext cx="744221" cy="1187450"/>
          </a:xfrm>
          <a:prstGeom prst="rect">
            <a:avLst/>
          </a:prstGeom>
        </p:spPr>
      </p:pic>
      <p:sp>
        <p:nvSpPr>
          <p:cNvPr id="5" name="Text 1"/>
          <p:cNvSpPr/>
          <p:nvPr/>
        </p:nvSpPr>
        <p:spPr>
          <a:xfrm>
            <a:off x="6111524" y="1282303"/>
            <a:ext cx="5418696" cy="223242"/>
          </a:xfrm>
          <a:prstGeom prst="rect">
            <a:avLst/>
          </a:prstGeom>
          <a:noFill/>
          <a:ln/>
        </p:spPr>
        <p:txBody>
          <a:bodyPr wrap="none" lIns="0" tIns="0" rIns="0" bIns="0" rtlCol="0" anchor="t"/>
          <a:lstStyle/>
          <a:p>
            <a:pPr algn="l" indent="0" marL="0">
              <a:lnSpc>
                <a:spcPct val="83000"/>
              </a:lnSpc>
              <a:buNone/>
            </a:pPr>
            <a:r>
              <a:rPr lang="en-US" sz="1750" spc="-53" kern="0" dirty="0">
                <a:solidFill>
                  <a:srgbClr val="272525"/>
                </a:solidFill>
                <a:latin typeface="DM Sans SemiBold" pitchFamily="34" charset="0"/>
                <a:ea typeface="DM Sans SemiBold" pitchFamily="34" charset="-122"/>
                <a:cs typeface="DM Sans SemiBold" pitchFamily="34" charset="-120"/>
              </a:rPr>
              <a:t>Increase Delivered Order Volume</a:t>
            </a:r>
            <a:endParaRPr lang="en-US" sz="1750" dirty="0"/>
          </a:p>
        </p:txBody>
      </p:sp>
      <p:sp>
        <p:nvSpPr>
          <p:cNvPr id="6" name="Text 2"/>
          <p:cNvSpPr/>
          <p:nvPr/>
        </p:nvSpPr>
        <p:spPr>
          <a:xfrm>
            <a:off x="6111524" y="1585913"/>
            <a:ext cx="5418696" cy="735013"/>
          </a:xfrm>
          <a:prstGeom prst="rect">
            <a:avLst/>
          </a:prstGeom>
          <a:noFill/>
          <a:ln/>
        </p:spPr>
        <p:txBody>
          <a:bodyPr wrap="square" lIns="0" tIns="0" rIns="0" bIns="0" rtlCol="0" anchor="t">
            <a:normAutofit/>
          </a:bodyPr>
          <a:lstStyle/>
          <a:p>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Boost marketing in </a:t>
            </a:r>
            <a:pPr algn="l" indent="0" marL="0">
              <a:lnSpc>
                <a:spcPct val="103000"/>
              </a:lnSpc>
              <a:buNone/>
            </a:pPr>
            <a:r>
              <a:rPr lang="en-US" sz="1150" b="1" spc="-12" kern="0" dirty="0">
                <a:solidFill>
                  <a:srgbClr val="272525"/>
                </a:solidFill>
                <a:latin typeface="DM Sans Bold" pitchFamily="34" charset="0"/>
                <a:ea typeface="DM Sans Bold" pitchFamily="34" charset="-122"/>
                <a:cs typeface="DM Sans Bold" pitchFamily="34" charset="-120"/>
              </a:rPr>
              <a:t>Pune, Mumbai, Delhi, and Gurugram</a:t>
            </a:r>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 Re-engage inactive customers through personalized campaigns. Introduce loyalty programs and targeted offers to encourage repeat purchases and improve successful order completion rates.</a:t>
            </a:r>
            <a:endParaRPr lang="en-US" sz="1150" dirty="0"/>
          </a:p>
        </p:txBody>
      </p:sp>
      <p:pic>
        <p:nvPicPr>
          <p:cNvPr id="7" name="Image 2" descr="preencoded.png">    </p:cNvPr>
          <p:cNvPicPr>
            <a:picLocks noChangeAspect="1"/>
          </p:cNvPicPr>
          <p:nvPr/>
        </p:nvPicPr>
        <p:blipFill>
          <a:blip r:embed="rId3"/>
          <a:stretch>
            <a:fillRect/>
          </a:stretch>
        </p:blipFill>
        <p:spPr>
          <a:xfrm>
            <a:off x="5233360" y="2618581"/>
            <a:ext cx="744221" cy="1371203"/>
          </a:xfrm>
          <a:prstGeom prst="rect">
            <a:avLst/>
          </a:prstGeom>
        </p:spPr>
      </p:pic>
      <p:sp>
        <p:nvSpPr>
          <p:cNvPr id="8" name="Text 3"/>
          <p:cNvSpPr/>
          <p:nvPr/>
        </p:nvSpPr>
        <p:spPr>
          <a:xfrm>
            <a:off x="6111524" y="2618581"/>
            <a:ext cx="5418696" cy="223242"/>
          </a:xfrm>
          <a:prstGeom prst="rect">
            <a:avLst/>
          </a:prstGeom>
          <a:noFill/>
          <a:ln/>
        </p:spPr>
        <p:txBody>
          <a:bodyPr wrap="none" lIns="0" tIns="0" rIns="0" bIns="0" rtlCol="0" anchor="t"/>
          <a:lstStyle/>
          <a:p>
            <a:pPr algn="l" indent="0" marL="0">
              <a:lnSpc>
                <a:spcPct val="83000"/>
              </a:lnSpc>
              <a:buNone/>
            </a:pPr>
            <a:r>
              <a:rPr lang="en-US" sz="1750" spc="-53" kern="0" dirty="0">
                <a:solidFill>
                  <a:srgbClr val="272525"/>
                </a:solidFill>
                <a:latin typeface="DM Sans SemiBold" pitchFamily="34" charset="0"/>
                <a:ea typeface="DM Sans SemiBold" pitchFamily="34" charset="-122"/>
                <a:cs typeface="DM Sans SemiBold" pitchFamily="34" charset="-120"/>
              </a:rPr>
              <a:t>Improve Restaurant Operations</a:t>
            </a:r>
            <a:endParaRPr lang="en-US" sz="1750" dirty="0"/>
          </a:p>
        </p:txBody>
      </p:sp>
      <p:sp>
        <p:nvSpPr>
          <p:cNvPr id="9" name="Text 4"/>
          <p:cNvSpPr/>
          <p:nvPr/>
        </p:nvSpPr>
        <p:spPr>
          <a:xfrm>
            <a:off x="6111524" y="2922191"/>
            <a:ext cx="5418696" cy="918766"/>
          </a:xfrm>
          <a:prstGeom prst="rect">
            <a:avLst/>
          </a:prstGeom>
          <a:noFill/>
          <a:ln/>
        </p:spPr>
        <p:txBody>
          <a:bodyPr wrap="square" lIns="0" tIns="0" rIns="0" bIns="0" rtlCol="0" anchor="t">
            <a:normAutofit/>
          </a:bodyPr>
          <a:lstStyle/>
          <a:p>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Work closely with restaurants showing continuous order decline — especially McDonald's, Subway, Pizza Hut, Starbucks, Domino's Pizza, Burger King, KFC, and Biryani By Kilo. Identify bottlenecks affecting order fulfilment, reduce preparation delays, improve delivery coordination, and provide additional promotional visibility and marketing support.</a:t>
            </a:r>
            <a:endParaRPr lang="en-US" sz="1150" dirty="0"/>
          </a:p>
        </p:txBody>
      </p:sp>
      <p:sp>
        <p:nvSpPr>
          <p:cNvPr id="10" name="Text 5"/>
          <p:cNvSpPr/>
          <p:nvPr/>
        </p:nvSpPr>
        <p:spPr>
          <a:xfrm>
            <a:off x="5233360" y="4289326"/>
            <a:ext cx="6296860" cy="551259"/>
          </a:xfrm>
          <a:prstGeom prst="rect">
            <a:avLst/>
          </a:prstGeom>
          <a:noFill/>
          <a:ln/>
        </p:spPr>
        <p:txBody>
          <a:bodyPr wrap="square" lIns="0" tIns="0" rIns="0" bIns="0" rtlCol="0" anchor="t">
            <a:normAutofit/>
          </a:bodyPr>
          <a:lstStyle/>
          <a:p>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These two priority areas address </a:t>
            </a:r>
            <a:pPr algn="l" indent="0" marL="0">
              <a:lnSpc>
                <a:spcPct val="103000"/>
              </a:lnSpc>
              <a:buNone/>
            </a:pPr>
            <a:r>
              <a:rPr lang="en-US" sz="1150" b="1" spc="-12" kern="0" dirty="0">
                <a:solidFill>
                  <a:srgbClr val="272525"/>
                </a:solidFill>
                <a:latin typeface="DM Sans Bold" pitchFamily="34" charset="0"/>
                <a:ea typeface="DM Sans Bold" pitchFamily="34" charset="-122"/>
                <a:cs typeface="DM Sans Bold" pitchFamily="34" charset="-120"/>
              </a:rPr>
              <a:t>both problem statements simultaneously</a:t>
            </a:r>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 — increasing completed orders stabilises revenue, and improving restaurant operations directly reduces the causes of underperformance.</a:t>
            </a:r>
            <a:endParaRPr lang="en-US" sz="1150" dirty="0"/>
          </a:p>
        </p:txBody>
      </p:sp>
      <p:pic>
        <p:nvPicPr>
          <p:cNvPr id="11" name="Image 3" descr="preencoded.png">    </p:cNvPr>
          <p:cNvPicPr>
            <a:picLocks noChangeAspect="1"/>
          </p:cNvPicPr>
          <p:nvPr/>
        </p:nvPicPr>
        <p:blipFill>
          <a:blip r:embed="rId4"/>
          <a:stretch>
            <a:fillRect/>
          </a:stretch>
        </p:blipFill>
        <p:spPr>
          <a:xfrm>
            <a:off x="5233360" y="4991298"/>
            <a:ext cx="251116" cy="223242"/>
          </a:xfrm>
          <a:prstGeom prst="rect">
            <a:avLst/>
          </a:prstGeom>
        </p:spPr>
      </p:pic>
      <p:pic>
        <p:nvPicPr>
          <p:cNvPr id="12" name="Image 4" descr="preencoded.png">    </p:cNvPr>
          <p:cNvPicPr>
            <a:picLocks noChangeAspect="1"/>
          </p:cNvPicPr>
          <p:nvPr/>
        </p:nvPicPr>
        <p:blipFill>
          <a:blip r:embed="rId5"/>
          <a:stretch>
            <a:fillRect/>
          </a:stretch>
        </p:blipFill>
        <p:spPr>
          <a:xfrm>
            <a:off x="5521683" y="4991298"/>
            <a:ext cx="251116" cy="223242"/>
          </a:xfrm>
          <a:prstGeom prst="rect">
            <a:avLst/>
          </a:prstGeom>
        </p:spPr>
      </p:pic>
      <p:pic>
        <p:nvPicPr>
          <p:cNvPr id="13" name="Image 5" descr="preencoded.png">    </p:cNvPr>
          <p:cNvPicPr>
            <a:picLocks noChangeAspect="1"/>
          </p:cNvPicPr>
          <p:nvPr/>
        </p:nvPicPr>
        <p:blipFill>
          <a:blip r:embed="rId6"/>
          <a:stretch>
            <a:fillRect/>
          </a:stretch>
        </p:blipFill>
        <p:spPr>
          <a:xfrm>
            <a:off x="5810005" y="4991298"/>
            <a:ext cx="251116" cy="223242"/>
          </a:xfrm>
          <a:prstGeom prst="rect">
            <a:avLst/>
          </a:prstGeom>
        </p:spPr>
      </p:pic>
      <p:pic>
        <p:nvPicPr>
          <p:cNvPr id="14" name="Image 6" descr="preencoded.png">    </p:cNvPr>
          <p:cNvPicPr>
            <a:picLocks noChangeAspect="1"/>
          </p:cNvPicPr>
          <p:nvPr/>
        </p:nvPicPr>
        <p:blipFill>
          <a:blip r:embed="rId7"/>
          <a:stretch>
            <a:fillRect/>
          </a:stretch>
        </p:blipFill>
        <p:spPr>
          <a:xfrm>
            <a:off x="6098328" y="4991298"/>
            <a:ext cx="251116" cy="223242"/>
          </a:xfrm>
          <a:prstGeom prst="rect">
            <a:avLst/>
          </a:prstGeom>
        </p:spPr>
      </p:pic>
      <p:pic>
        <p:nvPicPr>
          <p:cNvPr id="15" name="Image 7" descr="preencoded.png">    </p:cNvPr>
          <p:cNvPicPr>
            <a:picLocks noChangeAspect="1"/>
          </p:cNvPicPr>
          <p:nvPr/>
        </p:nvPicPr>
        <p:blipFill>
          <a:blip r:embed="rId8"/>
          <a:stretch>
            <a:fillRect/>
          </a:stretch>
        </p:blipFill>
        <p:spPr>
          <a:xfrm>
            <a:off x="6386650" y="4991298"/>
            <a:ext cx="251116" cy="223242"/>
          </a:xfrm>
          <a:prstGeom prst="rect">
            <a:avLst/>
          </a:prstGeom>
        </p:spPr>
      </p:pic>
      <p:sp>
        <p:nvSpPr>
          <p:cNvPr id="16" name="Text 6"/>
          <p:cNvSpPr/>
          <p:nvPr/>
        </p:nvSpPr>
        <p:spPr>
          <a:xfrm>
            <a:off x="6749385" y="5017988"/>
            <a:ext cx="279691" cy="186035"/>
          </a:xfrm>
          <a:prstGeom prst="rect">
            <a:avLst/>
          </a:prstGeom>
          <a:noFill/>
          <a:ln/>
        </p:spPr>
        <p:txBody>
          <a:bodyPr wrap="none" lIns="0" tIns="0" rIns="0" bIns="0" rtlCol="0" anchor="t"/>
          <a:lstStyle/>
          <a:p>
            <a:pPr algn="l" indent="0" marL="0">
              <a:lnSpc>
                <a:spcPct val="83000"/>
              </a:lnSpc>
              <a:buNone/>
            </a:pPr>
            <a:r>
              <a:rPr lang="en-US" sz="1450" spc="-44" kern="0" dirty="0">
                <a:solidFill>
                  <a:srgbClr val="272525"/>
                </a:solidFill>
                <a:latin typeface="DM Sans SemiBold" pitchFamily="34" charset="0"/>
                <a:ea typeface="DM Sans SemiBold" pitchFamily="34" charset="-122"/>
                <a:cs typeface="DM Sans SemiBold" pitchFamily="34" charset="-120"/>
              </a:rPr>
              <a:t>5/5</a:t>
            </a:r>
            <a:endParaRPr lang="en-US" sz="1450" dirty="0"/>
          </a:p>
        </p:txBody>
      </p:sp>
      <p:sp>
        <p:nvSpPr>
          <p:cNvPr id="17" name="Text 7"/>
          <p:cNvSpPr/>
          <p:nvPr/>
        </p:nvSpPr>
        <p:spPr>
          <a:xfrm>
            <a:off x="5233360" y="5331123"/>
            <a:ext cx="6296860" cy="186035"/>
          </a:xfrm>
          <a:prstGeom prst="rect">
            <a:avLst/>
          </a:prstGeom>
          <a:noFill/>
          <a:ln/>
        </p:spPr>
        <p:txBody>
          <a:bodyPr wrap="none" lIns="0" tIns="0" rIns="0" bIns="0" rtlCol="0" anchor="t"/>
          <a:lstStyle/>
          <a:p>
            <a:pPr algn="l" indent="0" marL="0">
              <a:lnSpc>
                <a:spcPct val="83000"/>
              </a:lnSpc>
              <a:buNone/>
            </a:pPr>
            <a:r>
              <a:rPr lang="en-US" sz="1450" spc="-44" kern="0" dirty="0">
                <a:solidFill>
                  <a:srgbClr val="272525"/>
                </a:solidFill>
                <a:latin typeface="DM Sans SemiBold" pitchFamily="34" charset="0"/>
                <a:ea typeface="DM Sans SemiBold" pitchFamily="34" charset="-122"/>
                <a:cs typeface="DM Sans SemiBold" pitchFamily="34" charset="-120"/>
              </a:rPr>
              <a:t>Impact Potential</a:t>
            </a:r>
            <a:endParaRPr lang="en-US" sz="1450" dirty="0"/>
          </a:p>
        </p:txBody>
      </p:sp>
      <p:sp>
        <p:nvSpPr>
          <p:cNvPr id="18" name="Text 8"/>
          <p:cNvSpPr/>
          <p:nvPr/>
        </p:nvSpPr>
        <p:spPr>
          <a:xfrm>
            <a:off x="5233360" y="5597525"/>
            <a:ext cx="6296860" cy="551259"/>
          </a:xfrm>
          <a:prstGeom prst="rect">
            <a:avLst/>
          </a:prstGeom>
          <a:noFill/>
          <a:ln/>
        </p:spPr>
        <p:txBody>
          <a:bodyPr wrap="square" lIns="0" tIns="0" rIns="0" bIns="0" rtlCol="0" anchor="t">
            <a:normAutofit/>
          </a:bodyPr>
          <a:lstStyle/>
          <a:p>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Focusing on delivered order volume growth in underperforming cities, paired with targeted operational support for declining restaurant brands, represents the highest-impact path to stabilising revenue and restoring restaurant performance across the platform.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930473"/>
            <a:ext cx="125608" cy="125611"/>
          </a:xfrm>
          <a:prstGeom prst="rect">
            <a:avLst/>
          </a:prstGeom>
        </p:spPr>
      </p:pic>
      <p:sp>
        <p:nvSpPr>
          <p:cNvPr id="3" name="Text 0"/>
          <p:cNvSpPr/>
          <p:nvPr/>
        </p:nvSpPr>
        <p:spPr>
          <a:xfrm>
            <a:off x="849887" y="921048"/>
            <a:ext cx="1385158" cy="144562"/>
          </a:xfrm>
          <a:prstGeom prst="rect">
            <a:avLst/>
          </a:prstGeom>
          <a:noFill/>
          <a:ln/>
        </p:spPr>
        <p:txBody>
          <a:bodyPr wrap="none" lIns="0" tIns="0" rIns="0" bIns="0" rtlCol="0" anchor="t"/>
          <a:lstStyle/>
          <a:p>
            <a:pPr algn="l" indent="0" marL="0">
              <a:lnSpc>
                <a:spcPct val="96000"/>
              </a:lnSpc>
              <a:buNone/>
            </a:pPr>
            <a:r>
              <a:rPr lang="en-US" sz="950" spc="-12" kern="0" dirty="0">
                <a:solidFill>
                  <a:srgbClr val="911E1B"/>
                </a:solidFill>
                <a:latin typeface="DM Sans" pitchFamily="34" charset="0"/>
                <a:ea typeface="DM Sans" pitchFamily="34" charset="-122"/>
                <a:cs typeface="DM Sans" pitchFamily="34" charset="-120"/>
              </a:rPr>
              <a:t>ACTION PLAN</a:t>
            </a:r>
            <a:endParaRPr lang="en-US" sz="950" dirty="0"/>
          </a:p>
        </p:txBody>
      </p:sp>
      <p:sp>
        <p:nvSpPr>
          <p:cNvPr id="4" name="Text 1"/>
          <p:cNvSpPr/>
          <p:nvPr/>
        </p:nvSpPr>
        <p:spPr>
          <a:xfrm>
            <a:off x="661475" y="1172369"/>
            <a:ext cx="10868745" cy="392807"/>
          </a:xfrm>
          <a:prstGeom prst="rect">
            <a:avLst/>
          </a:prstGeom>
          <a:noFill/>
          <a:ln/>
        </p:spPr>
        <p:txBody>
          <a:bodyPr wrap="none" lIns="0" tIns="0" rIns="0" bIns="0" rtlCol="0" anchor="t"/>
          <a:lstStyle/>
          <a:p>
            <a:pPr algn="l" indent="0" marL="0">
              <a:lnSpc>
                <a:spcPct val="83000"/>
              </a:lnSpc>
              <a:buNone/>
            </a:pPr>
            <a:r>
              <a:rPr lang="en-US" sz="3050" spc="-93" kern="0" dirty="0">
                <a:solidFill>
                  <a:srgbClr val="000000"/>
                </a:solidFill>
                <a:latin typeface="DM Sans SemiBold" pitchFamily="34" charset="0"/>
                <a:ea typeface="DM Sans SemiBold" pitchFamily="34" charset="-122"/>
                <a:cs typeface="DM Sans SemiBold" pitchFamily="34" charset="-120"/>
              </a:rPr>
              <a:t>Additional Recommendations</a:t>
            </a:r>
            <a:endParaRPr lang="en-US" sz="3050" dirty="0"/>
          </a:p>
        </p:txBody>
      </p:sp>
      <p:sp>
        <p:nvSpPr>
          <p:cNvPr id="5" name="Text 2"/>
          <p:cNvSpPr/>
          <p:nvPr/>
        </p:nvSpPr>
        <p:spPr>
          <a:xfrm>
            <a:off x="661475" y="1789013"/>
            <a:ext cx="11478330" cy="199132"/>
          </a:xfrm>
          <a:prstGeom prst="rect">
            <a:avLst/>
          </a:prstGeom>
          <a:noFill/>
          <a:ln/>
        </p:spPr>
        <p:txBody>
          <a:bodyPr wrap="none" lIns="0" tIns="0" rIns="0" bIns="0" rtlCol="0" anchor="t"/>
          <a:lstStyle/>
          <a:p>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Beyond the two primary actions, the following measures will strengthen both revenue stability and restaurant performance over the long term.</a:t>
            </a:r>
            <a:endParaRPr lang="en-US" sz="1200" dirty="0"/>
          </a:p>
        </p:txBody>
      </p:sp>
      <p:sp>
        <p:nvSpPr>
          <p:cNvPr id="6" name="Shape 3"/>
          <p:cNvSpPr/>
          <p:nvPr/>
        </p:nvSpPr>
        <p:spPr>
          <a:xfrm>
            <a:off x="897113" y="2784376"/>
            <a:ext cx="3287630" cy="157063"/>
          </a:xfrm>
          <a:prstGeom prst="roundRect">
            <a:avLst>
              <a:gd name="adj" fmla="val 42016"/>
            </a:avLst>
          </a:prstGeom>
          <a:solidFill>
            <a:srgbClr val="EFE8DD"/>
          </a:solidFill>
          <a:ln w="6350">
            <a:solidFill>
              <a:srgbClr val="D5CEC3"/>
            </a:solidFill>
            <a:prstDash val="solid"/>
          </a:ln>
        </p:spPr>
      </p:sp>
      <p:sp>
        <p:nvSpPr>
          <p:cNvPr id="7" name="Shape 4"/>
          <p:cNvSpPr/>
          <p:nvPr/>
        </p:nvSpPr>
        <p:spPr>
          <a:xfrm>
            <a:off x="661475" y="2627313"/>
            <a:ext cx="471277" cy="471289"/>
          </a:xfrm>
          <a:prstGeom prst="ellipse">
            <a:avLst/>
          </a:prstGeom>
          <a:solidFill>
            <a:srgbClr val="EFE8DD"/>
          </a:solidFill>
          <a:ln w="6350">
            <a:solidFill>
              <a:srgbClr val="D5CEC3"/>
            </a:solidFill>
            <a:prstDash val="solid"/>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245" y="2745184"/>
            <a:ext cx="235639" cy="235645"/>
          </a:xfrm>
          <a:prstGeom prst="rect">
            <a:avLst/>
          </a:prstGeom>
        </p:spPr>
      </p:pic>
      <p:sp>
        <p:nvSpPr>
          <p:cNvPr id="9" name="Text 5"/>
          <p:cNvSpPr/>
          <p:nvPr/>
        </p:nvSpPr>
        <p:spPr>
          <a:xfrm>
            <a:off x="818534" y="3247827"/>
            <a:ext cx="3209249" cy="392906"/>
          </a:xfrm>
          <a:prstGeom prst="rect">
            <a:avLst/>
          </a:prstGeom>
          <a:noFill/>
          <a:ln/>
        </p:spPr>
        <p:txBody>
          <a:bodyPr wrap="square" lIns="0" tIns="0" rIns="0" bIns="0" rtlCol="0" anchor="t">
            <a:normAutofit/>
          </a:bodyPr>
          <a:lstStyle/>
          <a:p>
            <a:pPr algn="l" indent="0" marL="0">
              <a:lnSpc>
                <a:spcPct val="83000"/>
              </a:lnSpc>
              <a:buNone/>
            </a:pPr>
            <a:r>
              <a:rPr lang="en-US" sz="1500" spc="-46" kern="0" dirty="0">
                <a:solidFill>
                  <a:srgbClr val="272525"/>
                </a:solidFill>
                <a:latin typeface="DM Sans SemiBold" pitchFamily="34" charset="0"/>
                <a:ea typeface="DM Sans SemiBold" pitchFamily="34" charset="-122"/>
                <a:cs typeface="DM Sans SemiBold" pitchFamily="34" charset="-120"/>
              </a:rPr>
              <a:t>Reduce Refunds &amp; Operational Issues</a:t>
            </a:r>
            <a:endParaRPr lang="en-US" sz="1500" dirty="0"/>
          </a:p>
        </p:txBody>
      </p:sp>
      <p:sp>
        <p:nvSpPr>
          <p:cNvPr id="10" name="Text 6"/>
          <p:cNvSpPr/>
          <p:nvPr/>
        </p:nvSpPr>
        <p:spPr>
          <a:xfrm>
            <a:off x="818534" y="3730228"/>
            <a:ext cx="3209249" cy="1194792"/>
          </a:xfrm>
          <a:prstGeom prst="rect">
            <a:avLst/>
          </a:prstGeom>
          <a:noFill/>
          <a:ln/>
        </p:spPr>
        <p:txBody>
          <a:bodyPr wrap="square" lIns="0" tIns="0" rIns="0" bIns="0" rtlCol="0" anchor="t">
            <a:normAutofit/>
          </a:bodyPr>
          <a:lstStyle/>
          <a:p>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Improve food quality consistency, reduce incorrect deliveries, improve packaging standards, and resolve customer complaints quickly. Identify restaurants with consistently high refund rates and provide dedicated operational support.</a:t>
            </a:r>
            <a:endParaRPr lang="en-US" sz="1200" dirty="0"/>
          </a:p>
        </p:txBody>
      </p:sp>
      <p:sp>
        <p:nvSpPr>
          <p:cNvPr id="11" name="Shape 7"/>
          <p:cNvSpPr/>
          <p:nvPr/>
        </p:nvSpPr>
        <p:spPr>
          <a:xfrm>
            <a:off x="4569703" y="2548731"/>
            <a:ext cx="3287729" cy="157063"/>
          </a:xfrm>
          <a:prstGeom prst="roundRect">
            <a:avLst>
              <a:gd name="adj" fmla="val 42016"/>
            </a:avLst>
          </a:prstGeom>
          <a:solidFill>
            <a:srgbClr val="EFE8DD"/>
          </a:solidFill>
          <a:ln w="6350">
            <a:solidFill>
              <a:srgbClr val="D5CEC3"/>
            </a:solidFill>
            <a:prstDash val="solid"/>
          </a:ln>
        </p:spPr>
      </p:sp>
      <p:sp>
        <p:nvSpPr>
          <p:cNvPr id="12" name="Shape 8"/>
          <p:cNvSpPr/>
          <p:nvPr/>
        </p:nvSpPr>
        <p:spPr>
          <a:xfrm>
            <a:off x="4334064" y="2391668"/>
            <a:ext cx="471277" cy="471289"/>
          </a:xfrm>
          <a:prstGeom prst="ellipse">
            <a:avLst/>
          </a:prstGeom>
          <a:solidFill>
            <a:srgbClr val="EFE8DD"/>
          </a:solidFill>
          <a:ln w="6350">
            <a:solidFill>
              <a:srgbClr val="D5CEC3"/>
            </a:solidFill>
            <a:prstDash val="solid"/>
          </a:ln>
        </p:spPr>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51834" y="2509540"/>
            <a:ext cx="235639" cy="235645"/>
          </a:xfrm>
          <a:prstGeom prst="rect">
            <a:avLst/>
          </a:prstGeom>
        </p:spPr>
      </p:pic>
      <p:sp>
        <p:nvSpPr>
          <p:cNvPr id="14" name="Text 9"/>
          <p:cNvSpPr/>
          <p:nvPr/>
        </p:nvSpPr>
        <p:spPr>
          <a:xfrm>
            <a:off x="4491124" y="3012182"/>
            <a:ext cx="3209349" cy="196453"/>
          </a:xfrm>
          <a:prstGeom prst="rect">
            <a:avLst/>
          </a:prstGeom>
          <a:noFill/>
          <a:ln/>
        </p:spPr>
        <p:txBody>
          <a:bodyPr wrap="none" lIns="0" tIns="0" rIns="0" bIns="0" rtlCol="0" anchor="t"/>
          <a:lstStyle/>
          <a:p>
            <a:pPr algn="l" indent="0" marL="0">
              <a:lnSpc>
                <a:spcPct val="83000"/>
              </a:lnSpc>
              <a:buNone/>
            </a:pPr>
            <a:r>
              <a:rPr lang="en-US" sz="1500" spc="-46" kern="0" dirty="0">
                <a:solidFill>
                  <a:srgbClr val="272525"/>
                </a:solidFill>
                <a:latin typeface="DM Sans SemiBold" pitchFamily="34" charset="0"/>
                <a:ea typeface="DM Sans SemiBold" pitchFamily="34" charset="-122"/>
                <a:cs typeface="DM Sans SemiBold" pitchFamily="34" charset="-120"/>
              </a:rPr>
              <a:t>Improve Customer Retention</a:t>
            </a:r>
            <a:endParaRPr lang="en-US" sz="1500" dirty="0"/>
          </a:p>
        </p:txBody>
      </p:sp>
      <p:sp>
        <p:nvSpPr>
          <p:cNvPr id="15" name="Text 10"/>
          <p:cNvSpPr/>
          <p:nvPr/>
        </p:nvSpPr>
        <p:spPr>
          <a:xfrm>
            <a:off x="4491124" y="3298130"/>
            <a:ext cx="3209349" cy="1393924"/>
          </a:xfrm>
          <a:prstGeom prst="rect">
            <a:avLst/>
          </a:prstGeom>
          <a:noFill/>
          <a:ln/>
        </p:spPr>
        <p:txBody>
          <a:bodyPr wrap="square" lIns="0" tIns="0" rIns="0" bIns="0" rtlCol="0" anchor="t">
            <a:normAutofit/>
          </a:bodyPr>
          <a:lstStyle/>
          <a:p>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Since acquisition channels (Instagram Ads, Referral, Google Ads, WhatsApp Campaign, Organic) remain active, prioritise converting existing customers into repeat buyers through loyalty rewards, personalized recommendations, subscription benefits, coupons, and targeted promotions.</a:t>
            </a:r>
            <a:endParaRPr lang="en-US" sz="1200" dirty="0"/>
          </a:p>
        </p:txBody>
      </p:sp>
      <p:sp>
        <p:nvSpPr>
          <p:cNvPr id="16" name="Shape 11"/>
          <p:cNvSpPr/>
          <p:nvPr/>
        </p:nvSpPr>
        <p:spPr>
          <a:xfrm>
            <a:off x="8242391" y="2313087"/>
            <a:ext cx="3287630" cy="157063"/>
          </a:xfrm>
          <a:prstGeom prst="roundRect">
            <a:avLst>
              <a:gd name="adj" fmla="val 42016"/>
            </a:avLst>
          </a:prstGeom>
          <a:solidFill>
            <a:srgbClr val="EFE8DD"/>
          </a:solidFill>
          <a:ln w="6350">
            <a:solidFill>
              <a:srgbClr val="D5CEC3"/>
            </a:solidFill>
            <a:prstDash val="solid"/>
          </a:ln>
        </p:spPr>
      </p:sp>
      <p:sp>
        <p:nvSpPr>
          <p:cNvPr id="17" name="Shape 12"/>
          <p:cNvSpPr/>
          <p:nvPr/>
        </p:nvSpPr>
        <p:spPr>
          <a:xfrm>
            <a:off x="8006753" y="2156023"/>
            <a:ext cx="471277" cy="471289"/>
          </a:xfrm>
          <a:prstGeom prst="ellipse">
            <a:avLst/>
          </a:prstGeom>
          <a:solidFill>
            <a:srgbClr val="EFE8DD"/>
          </a:solidFill>
          <a:ln w="6350">
            <a:solidFill>
              <a:srgbClr val="D5CEC3"/>
            </a:solidFill>
            <a:prstDash val="solid"/>
          </a:ln>
        </p:spPr>
      </p:sp>
      <p:pic>
        <p:nvPicPr>
          <p:cNvPr id="1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24523" y="2273895"/>
            <a:ext cx="235639" cy="235645"/>
          </a:xfrm>
          <a:prstGeom prst="rect">
            <a:avLst/>
          </a:prstGeom>
        </p:spPr>
      </p:pic>
      <p:sp>
        <p:nvSpPr>
          <p:cNvPr id="19" name="Text 13"/>
          <p:cNvSpPr/>
          <p:nvPr/>
        </p:nvSpPr>
        <p:spPr>
          <a:xfrm>
            <a:off x="8163812" y="2776538"/>
            <a:ext cx="3209249" cy="196453"/>
          </a:xfrm>
          <a:prstGeom prst="rect">
            <a:avLst/>
          </a:prstGeom>
          <a:noFill/>
          <a:ln/>
        </p:spPr>
        <p:txBody>
          <a:bodyPr wrap="none" lIns="0" tIns="0" rIns="0" bIns="0" rtlCol="0" anchor="t"/>
          <a:lstStyle/>
          <a:p>
            <a:pPr algn="l" indent="0" marL="0">
              <a:lnSpc>
                <a:spcPct val="83000"/>
              </a:lnSpc>
              <a:buNone/>
            </a:pPr>
            <a:r>
              <a:rPr lang="en-US" sz="1500" spc="-46" kern="0" dirty="0">
                <a:solidFill>
                  <a:srgbClr val="272525"/>
                </a:solidFill>
                <a:latin typeface="DM Sans SemiBold" pitchFamily="34" charset="0"/>
                <a:ea typeface="DM Sans SemiBold" pitchFamily="34" charset="-122"/>
                <a:cs typeface="DM Sans SemiBold" pitchFamily="34" charset="-120"/>
              </a:rPr>
              <a:t>Establish Performance Dashboards</a:t>
            </a:r>
            <a:endParaRPr lang="en-US" sz="1500" dirty="0"/>
          </a:p>
        </p:txBody>
      </p:sp>
      <p:sp>
        <p:nvSpPr>
          <p:cNvPr id="20" name="Text 14"/>
          <p:cNvSpPr/>
          <p:nvPr/>
        </p:nvSpPr>
        <p:spPr>
          <a:xfrm>
            <a:off x="8163812" y="3062486"/>
            <a:ext cx="3209249" cy="1194792"/>
          </a:xfrm>
          <a:prstGeom prst="rect">
            <a:avLst/>
          </a:prstGeom>
          <a:noFill/>
          <a:ln/>
        </p:spPr>
        <p:txBody>
          <a:bodyPr wrap="square" lIns="0" tIns="0" rIns="0" bIns="0" rtlCol="0" anchor="t">
            <a:normAutofit/>
          </a:bodyPr>
          <a:lstStyle/>
          <a:p>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Monitor monthly KPIs including: Delivered Orders, Revenue, Refund Rate, Cancellation Rate, Average Order Value, Customer Retention Rate, Restaurant-wise Revenue, City-wise Revenue, and Restaurant Growth Rate.</a:t>
            </a:r>
            <a:endParaRPr lang="en-US" sz="1200" dirty="0"/>
          </a:p>
        </p:txBody>
      </p:sp>
      <p:sp>
        <p:nvSpPr>
          <p:cNvPr id="21" name="Text 15"/>
          <p:cNvSpPr/>
          <p:nvPr/>
        </p:nvSpPr>
        <p:spPr>
          <a:xfrm>
            <a:off x="897113" y="5417840"/>
            <a:ext cx="10633107" cy="398264"/>
          </a:xfrm>
          <a:prstGeom prst="rect">
            <a:avLst/>
          </a:prstGeom>
          <a:noFill/>
          <a:ln/>
        </p:spPr>
        <p:txBody>
          <a:bodyPr wrap="square" lIns="0" tIns="0" rIns="0" bIns="0" rtlCol="0" anchor="t">
            <a:normAutofit/>
          </a:bodyPr>
          <a:lstStyle/>
          <a:p>
            <a:pPr algn="l" indent="0" marL="0">
              <a:lnSpc>
                <a:spcPct val="106000"/>
              </a:lnSpc>
              <a:buNone/>
            </a:pPr>
            <a:r>
              <a:rPr lang="en-US" sz="1200" spc="-12" kern="0" dirty="0">
                <a:solidFill>
                  <a:srgbClr val="272525"/>
                </a:solidFill>
                <a:latin typeface="DM Sans" pitchFamily="34" charset="0"/>
                <a:ea typeface="DM Sans" pitchFamily="34" charset="-122"/>
                <a:cs typeface="DM Sans" pitchFamily="34" charset="-120"/>
              </a:rPr>
              <a:t>Ultimately, sustainable growth requires a shift from reactive problem-solving to proactive performance monitoring — ensuring that declining signals in orders, refunds, or city-level revenue are caught and addressed before they compound into larger business issues.</a:t>
            </a:r>
            <a:endParaRPr lang="en-US" sz="1200" dirty="0"/>
          </a:p>
        </p:txBody>
      </p:sp>
      <p:sp>
        <p:nvSpPr>
          <p:cNvPr id="22" name="Shape 16"/>
          <p:cNvSpPr/>
          <p:nvPr/>
        </p:nvSpPr>
        <p:spPr>
          <a:xfrm>
            <a:off x="661475" y="5249962"/>
            <a:ext cx="19050" cy="734020"/>
          </a:xfrm>
          <a:prstGeom prst="roundRect">
            <a:avLst>
              <a:gd name="adj" fmla="val 49999"/>
            </a:avLst>
          </a:prstGeom>
          <a:solidFill>
            <a:srgbClr val="E07A5F"/>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1860649"/>
          </a:xfrm>
          <a:prstGeom prst="rect">
            <a:avLst/>
          </a:prstGeom>
        </p:spPr>
      </p:pic>
      <p:sp>
        <p:nvSpPr>
          <p:cNvPr id="3" name="Text 0"/>
          <p:cNvSpPr/>
          <p:nvPr/>
        </p:nvSpPr>
        <p:spPr>
          <a:xfrm>
            <a:off x="661475" y="2667794"/>
            <a:ext cx="10868745" cy="372170"/>
          </a:xfrm>
          <a:prstGeom prst="rect">
            <a:avLst/>
          </a:prstGeom>
          <a:noFill/>
          <a:ln/>
        </p:spPr>
        <p:txBody>
          <a:bodyPr wrap="none" lIns="0" tIns="0" rIns="0" bIns="0" rtlCol="0" anchor="t"/>
          <a:lstStyle/>
          <a:p>
            <a:pPr algn="l" indent="0" marL="0">
              <a:lnSpc>
                <a:spcPct val="83000"/>
              </a:lnSpc>
              <a:buNone/>
            </a:pPr>
            <a:r>
              <a:rPr lang="en-US" sz="2900" spc="-88" kern="0" dirty="0">
                <a:solidFill>
                  <a:srgbClr val="000000"/>
                </a:solidFill>
                <a:latin typeface="DM Sans SemiBold" pitchFamily="34" charset="0"/>
                <a:ea typeface="DM Sans SemiBold" pitchFamily="34" charset="-122"/>
                <a:cs typeface="DM Sans SemiBold" pitchFamily="34" charset="-120"/>
              </a:rPr>
              <a:t>Overall Business Conclusion</a:t>
            </a:r>
            <a:endParaRPr lang="en-US" sz="29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2425" y="3221831"/>
            <a:ext cx="5369684" cy="2847975"/>
          </a:xfrm>
          <a:prstGeom prst="rect">
            <a:avLst/>
          </a:prstGeom>
        </p:spPr>
      </p:pic>
      <p:sp>
        <p:nvSpPr>
          <p:cNvPr id="5" name="Text 1"/>
          <p:cNvSpPr/>
          <p:nvPr/>
        </p:nvSpPr>
        <p:spPr>
          <a:xfrm>
            <a:off x="848398" y="3240881"/>
            <a:ext cx="5163711" cy="223242"/>
          </a:xfrm>
          <a:prstGeom prst="rect">
            <a:avLst/>
          </a:prstGeom>
          <a:noFill/>
          <a:ln/>
        </p:spPr>
        <p:txBody>
          <a:bodyPr wrap="none" lIns="0" tIns="0" rIns="0" bIns="0" rtlCol="0" anchor="t"/>
          <a:lstStyle/>
          <a:p>
            <a:pPr algn="l" indent="0" marL="0">
              <a:lnSpc>
                <a:spcPct val="83000"/>
              </a:lnSpc>
              <a:buNone/>
            </a:pPr>
            <a:r>
              <a:rPr lang="en-US" sz="1750" spc="-53" kern="0" dirty="0">
                <a:solidFill>
                  <a:srgbClr val="272525"/>
                </a:solidFill>
                <a:latin typeface="DM Sans SemiBold" pitchFamily="34" charset="0"/>
                <a:ea typeface="DM Sans SemiBold" pitchFamily="34" charset="-122"/>
                <a:cs typeface="DM Sans SemiBold" pitchFamily="34" charset="-120"/>
              </a:rPr>
              <a:t>What the Analysis Found</a:t>
            </a:r>
            <a:endParaRPr lang="en-US" sz="1750" dirty="0"/>
          </a:p>
        </p:txBody>
      </p:sp>
      <p:sp>
        <p:nvSpPr>
          <p:cNvPr id="6" name="Text 2"/>
          <p:cNvSpPr/>
          <p:nvPr/>
        </p:nvSpPr>
        <p:spPr>
          <a:xfrm>
            <a:off x="848398" y="3544491"/>
            <a:ext cx="5163711" cy="999133"/>
          </a:xfrm>
          <a:prstGeom prst="rect">
            <a:avLst/>
          </a:prstGeom>
          <a:noFill/>
          <a:ln/>
        </p:spPr>
        <p:txBody>
          <a:bodyPr wrap="square" lIns="0" tIns="0" rIns="0" bIns="0" rtlCol="0" anchor="t">
            <a:normAutofit/>
          </a:bodyPr>
          <a:lstStyle/>
          <a:p>
            <a:pPr algn="l" indent="0" marL="0">
              <a:lnSpc>
                <a:spcPct val="103000"/>
              </a:lnSpc>
              <a:spcAft>
                <a:spcPts val="600"/>
              </a:spcAft>
              <a:buNone/>
            </a:pPr>
            <a:r>
              <a:rPr lang="en-US" sz="1150" spc="-12" kern="0" dirty="0">
                <a:solidFill>
                  <a:srgbClr val="272525"/>
                </a:solidFill>
                <a:latin typeface="DM Sans" pitchFamily="34" charset="0"/>
                <a:ea typeface="DM Sans" pitchFamily="34" charset="-122"/>
                <a:cs typeface="DM Sans" pitchFamily="34" charset="-120"/>
              </a:rPr>
              <a:t>The analysis identified </a:t>
            </a:r>
            <a:pPr algn="l" indent="0" marL="0">
              <a:lnSpc>
                <a:spcPct val="103000"/>
              </a:lnSpc>
              <a:spcAft>
                <a:spcPts val="600"/>
              </a:spcAft>
              <a:buNone/>
            </a:pPr>
            <a:r>
              <a:rPr lang="en-US" sz="1150" b="1" spc="-12" kern="0" dirty="0">
                <a:solidFill>
                  <a:srgbClr val="272525"/>
                </a:solidFill>
                <a:latin typeface="DM Sans Bold" pitchFamily="34" charset="0"/>
                <a:ea typeface="DM Sans Bold" pitchFamily="34" charset="-122"/>
                <a:cs typeface="DM Sans Bold" pitchFamily="34" charset="-120"/>
              </a:rPr>
              <a:t>declining delivered order volume</a:t>
            </a:r>
            <a:pPr algn="l" indent="0" marL="0">
              <a:lnSpc>
                <a:spcPct val="103000"/>
              </a:lnSpc>
              <a:spcAft>
                <a:spcPts val="600"/>
              </a:spcAft>
              <a:buNone/>
            </a:pPr>
            <a:r>
              <a:rPr lang="en-US" sz="1150" spc="-12" kern="0" dirty="0">
                <a:solidFill>
                  <a:srgbClr val="272525"/>
                </a:solidFill>
                <a:latin typeface="DM Sans" pitchFamily="34" charset="0"/>
                <a:ea typeface="DM Sans" pitchFamily="34" charset="-122"/>
                <a:cs typeface="DM Sans" pitchFamily="34" charset="-120"/>
              </a:rPr>
              <a:t> as the primary cause of inconsistent revenue, and found that restaurant underperformance is driven by a combination of </a:t>
            </a:r>
            <a:pPr algn="l" indent="0" marL="0">
              <a:lnSpc>
                <a:spcPct val="103000"/>
              </a:lnSpc>
              <a:spcAft>
                <a:spcPts val="600"/>
              </a:spcAft>
              <a:buNone/>
            </a:pPr>
            <a:r>
              <a:rPr lang="en-US" sz="1150" b="1" spc="-12" kern="0" dirty="0">
                <a:solidFill>
                  <a:srgbClr val="272525"/>
                </a:solidFill>
                <a:latin typeface="DM Sans Bold" pitchFamily="34" charset="0"/>
                <a:ea typeface="DM Sans Bold" pitchFamily="34" charset="-122"/>
                <a:cs typeface="DM Sans Bold" pitchFamily="34" charset="-120"/>
              </a:rPr>
              <a:t>operational inefficiencies and declining customer demand</a:t>
            </a:r>
            <a:pPr algn="l" indent="0" marL="0">
              <a:lnSpc>
                <a:spcPct val="103000"/>
              </a:lnSpc>
              <a:spcAft>
                <a:spcPts val="600"/>
              </a:spcAft>
              <a:buNone/>
            </a:pPr>
            <a:r>
              <a:rPr lang="en-US" sz="1150" spc="-12" kern="0" dirty="0">
                <a:solidFill>
                  <a:srgbClr val="272525"/>
                </a:solidFill>
                <a:latin typeface="DM Sans" pitchFamily="34" charset="0"/>
                <a:ea typeface="DM Sans" pitchFamily="34" charset="-122"/>
                <a:cs typeface="DM Sans" pitchFamily="34" charset="-120"/>
              </a:rPr>
              <a:t> — not customer ratings or acquisition channels alone.</a:t>
            </a:r>
            <a:endParaRPr lang="en-US" sz="1150" dirty="0"/>
          </a:p>
          <a:p>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Key confirmed findings:</a:t>
            </a:r>
            <a:endParaRPr lang="en-US" sz="1150" dirty="0"/>
          </a:p>
        </p:txBody>
      </p:sp>
      <p:sp>
        <p:nvSpPr>
          <p:cNvPr id="7" name="Text 3"/>
          <p:cNvSpPr/>
          <p:nvPr/>
        </p:nvSpPr>
        <p:spPr>
          <a:xfrm>
            <a:off x="848398" y="4623991"/>
            <a:ext cx="5163711" cy="1426766"/>
          </a:xfrm>
          <a:prstGeom prst="rect">
            <a:avLst/>
          </a:prstGeom>
          <a:noFill/>
          <a:ln/>
        </p:spPr>
        <p:txBody>
          <a:bodyPr wrap="square" lIns="0" tIns="0" rIns="0" bIns="0" rtlCol="0" anchor="t">
            <a:normAutofit/>
          </a:bodyPr>
          <a:lstStyle/>
          <a:p>
            <a:pPr algn="l" marL="233680" indent="-233680">
              <a:lnSpc>
                <a:spcPct val="103000"/>
              </a:lnSpc>
              <a:buSzPct val="100000"/>
              <a:buChar char="•"/>
            </a:pPr>
            <a:r>
              <a:rPr lang="en-US" sz="1150" b="1" spc="-12" kern="0" dirty="0">
                <a:solidFill>
                  <a:srgbClr val="272525"/>
                </a:solidFill>
                <a:latin typeface="DM Sans Bold" pitchFamily="34" charset="0"/>
                <a:ea typeface="DM Sans Bold" pitchFamily="34" charset="-122"/>
                <a:cs typeface="DM Sans Bold" pitchFamily="34" charset="-120"/>
              </a:rPr>
              <a:t>Revenue decline (2.52%)</a:t>
            </a:r>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 closely matched the decline in successful delivered orders</a:t>
            </a:r>
            <a:endParaRPr lang="en-US" sz="1150" dirty="0"/>
          </a:p>
          <a:p>
            <a:pPr algn="l" marL="233680" indent="-233680">
              <a:lnSpc>
                <a:spcPct val="103000"/>
              </a:lnSpc>
              <a:buSzPct val="100000"/>
              <a:buChar char="•"/>
            </a:pPr>
            <a:r>
              <a:rPr lang="en-US" sz="1150" b="1" spc="-12" kern="0" dirty="0">
                <a:solidFill>
                  <a:srgbClr val="272525"/>
                </a:solidFill>
                <a:latin typeface="DM Sans Bold" pitchFamily="34" charset="0"/>
                <a:ea typeface="DM Sans Bold" pitchFamily="34" charset="-122"/>
                <a:cs typeface="DM Sans Bold" pitchFamily="34" charset="-120"/>
              </a:rPr>
              <a:t>Pune, Mumbai, Delhi, and Gurugram</a:t>
            </a:r>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 were the major contributing cities</a:t>
            </a:r>
            <a:endParaRPr lang="en-US" sz="1150" dirty="0"/>
          </a:p>
          <a:p>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Cancellations and refunds contributed to poor performance for </a:t>
            </a:r>
            <a:pPr algn="l" marL="233680" indent="-233680">
              <a:lnSpc>
                <a:spcPct val="103000"/>
              </a:lnSpc>
              <a:buSzPct val="100000"/>
              <a:buChar char="•"/>
            </a:pPr>
            <a:r>
              <a:rPr lang="en-US" sz="1150" b="1" spc="-12" kern="0" dirty="0">
                <a:solidFill>
                  <a:srgbClr val="272525"/>
                </a:solidFill>
                <a:latin typeface="DM Sans Bold" pitchFamily="34" charset="0"/>
                <a:ea typeface="DM Sans Bold" pitchFamily="34" charset="-122"/>
                <a:cs typeface="DM Sans Bold" pitchFamily="34" charset="-120"/>
              </a:rPr>
              <a:t>certain restaurants</a:t>
            </a:r>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 but were not sole business-wide drivers</a:t>
            </a:r>
            <a:endParaRPr lang="en-US" sz="1150" dirty="0"/>
          </a:p>
          <a:p>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AOV, overall cancellation rates, and discounts had only a </a:t>
            </a:r>
            <a:pPr algn="l" marL="233680" indent="-233680">
              <a:lnSpc>
                <a:spcPct val="103000"/>
              </a:lnSpc>
              <a:buSzPct val="100000"/>
              <a:buChar char="•"/>
            </a:pPr>
            <a:r>
              <a:rPr lang="en-US" sz="1150" b="1" spc="-12" kern="0" dirty="0">
                <a:solidFill>
                  <a:srgbClr val="272525"/>
                </a:solidFill>
                <a:latin typeface="DM Sans Bold" pitchFamily="34" charset="0"/>
                <a:ea typeface="DM Sans Bold" pitchFamily="34" charset="-122"/>
                <a:cs typeface="DM Sans Bold" pitchFamily="34" charset="-120"/>
              </a:rPr>
              <a:t>limited impact</a:t>
            </a:r>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 on business performance</a:t>
            </a:r>
            <a:endParaRPr lang="en-US" sz="115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60437" y="3221831"/>
            <a:ext cx="5369783" cy="2847975"/>
          </a:xfrm>
          <a:prstGeom prst="rect">
            <a:avLst/>
          </a:prstGeom>
        </p:spPr>
      </p:pic>
      <p:sp>
        <p:nvSpPr>
          <p:cNvPr id="9" name="Text 4"/>
          <p:cNvSpPr/>
          <p:nvPr/>
        </p:nvSpPr>
        <p:spPr>
          <a:xfrm>
            <a:off x="6366410" y="3240881"/>
            <a:ext cx="5163810" cy="223242"/>
          </a:xfrm>
          <a:prstGeom prst="rect">
            <a:avLst/>
          </a:prstGeom>
          <a:noFill/>
          <a:ln/>
        </p:spPr>
        <p:txBody>
          <a:bodyPr wrap="none" lIns="0" tIns="0" rIns="0" bIns="0" rtlCol="0" anchor="t"/>
          <a:lstStyle/>
          <a:p>
            <a:pPr algn="l" indent="0" marL="0">
              <a:lnSpc>
                <a:spcPct val="83000"/>
              </a:lnSpc>
              <a:buNone/>
            </a:pPr>
            <a:r>
              <a:rPr lang="en-US" sz="1750" spc="-53" kern="0" dirty="0">
                <a:solidFill>
                  <a:srgbClr val="272525"/>
                </a:solidFill>
                <a:latin typeface="DM Sans SemiBold" pitchFamily="34" charset="0"/>
                <a:ea typeface="DM Sans SemiBold" pitchFamily="34" charset="-122"/>
                <a:cs typeface="DM Sans SemiBold" pitchFamily="34" charset="-120"/>
              </a:rPr>
              <a:t>The Path Forward</a:t>
            </a:r>
            <a:endParaRPr lang="en-US" sz="1750" dirty="0"/>
          </a:p>
        </p:txBody>
      </p:sp>
      <p:sp>
        <p:nvSpPr>
          <p:cNvPr id="10" name="Text 5"/>
          <p:cNvSpPr/>
          <p:nvPr/>
        </p:nvSpPr>
        <p:spPr>
          <a:xfrm>
            <a:off x="6366410" y="3544491"/>
            <a:ext cx="5163810" cy="183753"/>
          </a:xfrm>
          <a:prstGeom prst="rect">
            <a:avLst/>
          </a:prstGeom>
          <a:noFill/>
          <a:ln/>
        </p:spPr>
        <p:txBody>
          <a:bodyPr wrap="none" lIns="0" tIns="0" rIns="0" bIns="0" rtlCol="0" anchor="t"/>
          <a:lstStyle/>
          <a:p>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To improve overall business performance, the company should prioritise:</a:t>
            </a:r>
            <a:endParaRPr lang="en-US" sz="1150" dirty="0"/>
          </a:p>
        </p:txBody>
      </p:sp>
      <p:sp>
        <p:nvSpPr>
          <p:cNvPr id="11" name="Text 6"/>
          <p:cNvSpPr/>
          <p:nvPr/>
        </p:nvSpPr>
        <p:spPr>
          <a:xfrm>
            <a:off x="6366410" y="3808611"/>
            <a:ext cx="5163810" cy="1243013"/>
          </a:xfrm>
          <a:prstGeom prst="rect">
            <a:avLst/>
          </a:prstGeom>
          <a:noFill/>
          <a:ln/>
        </p:spPr>
        <p:txBody>
          <a:bodyPr wrap="square" lIns="0" tIns="0" rIns="0" bIns="0" rtlCol="0" anchor="t">
            <a:normAutofit/>
          </a:bodyPr>
          <a:lstStyle/>
          <a:p>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Increasing successful </a:t>
            </a:r>
            <a:pPr algn="l" marL="233680" indent="-233680">
              <a:lnSpc>
                <a:spcPct val="103000"/>
              </a:lnSpc>
              <a:buSzPct val="100000"/>
              <a:buChar char="•"/>
            </a:pPr>
            <a:r>
              <a:rPr lang="en-US" sz="1150" b="1" spc="-12" kern="0" dirty="0">
                <a:solidFill>
                  <a:srgbClr val="272525"/>
                </a:solidFill>
                <a:latin typeface="DM Sans Bold" pitchFamily="34" charset="0"/>
                <a:ea typeface="DM Sans Bold" pitchFamily="34" charset="-122"/>
                <a:cs typeface="DM Sans Bold" pitchFamily="34" charset="-120"/>
              </a:rPr>
              <a:t>delivered orders</a:t>
            </a:r>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 in underperforming cities</a:t>
            </a:r>
            <a:endParaRPr lang="en-US" sz="1150" dirty="0"/>
          </a:p>
          <a:p>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Strengthening </a:t>
            </a:r>
            <a:pPr algn="l" marL="233680" indent="-233680">
              <a:lnSpc>
                <a:spcPct val="103000"/>
              </a:lnSpc>
              <a:buSzPct val="100000"/>
              <a:buChar char="•"/>
            </a:pPr>
            <a:r>
              <a:rPr lang="en-US" sz="1150" b="1" spc="-12" kern="0" dirty="0">
                <a:solidFill>
                  <a:srgbClr val="272525"/>
                </a:solidFill>
                <a:latin typeface="DM Sans Bold" pitchFamily="34" charset="0"/>
                <a:ea typeface="DM Sans Bold" pitchFamily="34" charset="-122"/>
                <a:cs typeface="DM Sans Bold" pitchFamily="34" charset="-120"/>
              </a:rPr>
              <a:t>restaurant operations</a:t>
            </a:r>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 for declining brands</a:t>
            </a:r>
            <a:endParaRPr lang="en-US" sz="1150" dirty="0"/>
          </a:p>
          <a:p>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Reducing </a:t>
            </a:r>
            <a:pPr algn="l" marL="233680" indent="-233680">
              <a:lnSpc>
                <a:spcPct val="103000"/>
              </a:lnSpc>
              <a:buSzPct val="100000"/>
              <a:buChar char="•"/>
            </a:pPr>
            <a:r>
              <a:rPr lang="en-US" sz="1150" b="1" spc="-12" kern="0" dirty="0">
                <a:solidFill>
                  <a:srgbClr val="272525"/>
                </a:solidFill>
                <a:latin typeface="DM Sans Bold" pitchFamily="34" charset="0"/>
                <a:ea typeface="DM Sans Bold" pitchFamily="34" charset="-122"/>
                <a:cs typeface="DM Sans Bold" pitchFamily="34" charset="-120"/>
              </a:rPr>
              <a:t>refunds and cancellations</a:t>
            </a:r>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 through quality and process improvements</a:t>
            </a:r>
            <a:endParaRPr lang="en-US" sz="1150" dirty="0"/>
          </a:p>
          <a:p>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Improving </a:t>
            </a:r>
            <a:pPr algn="l" marL="233680" indent="-233680">
              <a:lnSpc>
                <a:spcPct val="103000"/>
              </a:lnSpc>
              <a:buSzPct val="100000"/>
              <a:buChar char="•"/>
            </a:pPr>
            <a:r>
              <a:rPr lang="en-US" sz="1150" b="1" spc="-12" kern="0" dirty="0">
                <a:solidFill>
                  <a:srgbClr val="272525"/>
                </a:solidFill>
                <a:latin typeface="DM Sans Bold" pitchFamily="34" charset="0"/>
                <a:ea typeface="DM Sans Bold" pitchFamily="34" charset="-122"/>
                <a:cs typeface="DM Sans Bold" pitchFamily="34" charset="-120"/>
              </a:rPr>
              <a:t>customer retention</a:t>
            </a:r>
            <a:pPr algn="l" marL="233680" indent="-233680">
              <a:lnSpc>
                <a:spcPct val="103000"/>
              </a:lnSpc>
              <a:buSzPct val="100000"/>
              <a:buChar char="•"/>
            </a:pPr>
            <a:r>
              <a:rPr lang="en-US" sz="1150" spc="-12" kern="0" dirty="0">
                <a:solidFill>
                  <a:srgbClr val="272525"/>
                </a:solidFill>
                <a:latin typeface="DM Sans" pitchFamily="34" charset="0"/>
                <a:ea typeface="DM Sans" pitchFamily="34" charset="-122"/>
                <a:cs typeface="DM Sans" pitchFamily="34" charset="-120"/>
              </a:rPr>
              <a:t> to maximise the value of existing acquisition channels</a:t>
            </a:r>
            <a:endParaRPr lang="en-US" sz="1150" dirty="0"/>
          </a:p>
        </p:txBody>
      </p:sp>
      <p:sp>
        <p:nvSpPr>
          <p:cNvPr id="12" name="Text 7"/>
          <p:cNvSpPr/>
          <p:nvPr/>
        </p:nvSpPr>
        <p:spPr>
          <a:xfrm>
            <a:off x="6366410" y="5131991"/>
            <a:ext cx="5163810" cy="551259"/>
          </a:xfrm>
          <a:prstGeom prst="rect">
            <a:avLst/>
          </a:prstGeom>
          <a:noFill/>
          <a:ln/>
        </p:spPr>
        <p:txBody>
          <a:bodyPr wrap="square" lIns="0" tIns="0" rIns="0" bIns="0" rtlCol="0" anchor="t">
            <a:normAutofit/>
          </a:bodyPr>
          <a:lstStyle/>
          <a:p>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By focusing on these areas, the business can enhance restaurant performance, stabilise revenue, and achieve </a:t>
            </a:r>
            <a:pPr algn="l" indent="0" marL="0">
              <a:lnSpc>
                <a:spcPct val="103000"/>
              </a:lnSpc>
              <a:buNone/>
            </a:pPr>
            <a:r>
              <a:rPr lang="en-US" sz="1150" b="1" spc="-12" kern="0" dirty="0">
                <a:solidFill>
                  <a:srgbClr val="272525"/>
                </a:solidFill>
                <a:latin typeface="DM Sans Bold" pitchFamily="34" charset="0"/>
                <a:ea typeface="DM Sans Bold" pitchFamily="34" charset="-122"/>
                <a:cs typeface="DM Sans Bold" pitchFamily="34" charset="-120"/>
              </a:rPr>
              <a:t>sustainable long-term growth</a:t>
            </a:r>
            <a:pPr algn="l" indent="0" marL="0">
              <a:lnSpc>
                <a:spcPct val="103000"/>
              </a:lnSpc>
              <a:buNone/>
            </a:pPr>
            <a:r>
              <a:rPr lang="en-US" sz="1150" spc="-12" kern="0" dirty="0">
                <a:solidFill>
                  <a:srgbClr val="272525"/>
                </a:solidFill>
                <a:latin typeface="DM Sans" pitchFamily="34" charset="0"/>
                <a:ea typeface="DM Sans" pitchFamily="34" charset="-122"/>
                <a:cs typeface="DM Sans" pitchFamily="34" charset="-120"/>
              </a:rPr>
              <a:t> on the Zomato platform.</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2026-08-04T17:59:05Z</dcterms:created>
  <dcterms:modified xsi:type="dcterms:W3CDTF">2026-08-04T17:59:05Z</dcterms:modified>
</cp:coreProperties>
</file>